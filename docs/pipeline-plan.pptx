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besoins métier : être notifié dès qu'une fraude est détectée, et disposer chaque matin du bilan des paiements et fraudes de la veille. Priorité de l'énoncé : le pipeline de données, pas l'algorithme.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pipeline temps réel est un micro-batch à la minute : suffisant pour une API qui produit une transaction par minute. Le dédoublonnage par clé primaire rend le pipeline rejouable sans double alerte. Le rapport quotidien réutilise le label de l'API comme vérité terrain pour suivre la qualité du modèle.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entrées : le dataset historique entre par l'entraînement dans MLflow ; l'API temps réel entre dans Airflow. Elles convergent dans la tâche predict, qui charge le modèle par alias. Tout ce qui sort (Discord, CSV, dashboard) part de PostgreSQL.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même docker compose qu'en développement, sur une EC2 déclarée en Terraform. user_data : Docker → git clone → .env (secrets générés par Terraform) → compose up → entraînement → dépause des DAGs. Le dataset, les artefacts MLflow et les rapports sont dans S3 via le rôle d'instance.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choix est argumenté contre une alternative, avec le seuil à partir duquel l'alternative devient la bonne réponse. Limite assumée : l'API rejoue le dataset d'entraînement, la précision live est optimiste ; le label de l'API n'est jamais utilisé pour prédire.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731520" y="1188720"/>
            <a:ext cx="10515600" cy="914400"/>
          </a:xfrm>
          <a:prstGeom prst="rect">
            <a:avLst/>
          </a:prstGeom>
          <a:noFill/>
        </p:spPr>
        <p:txBody>
          <a:bodyPr wrap="square" anchor="t" lIns="0" rIns="0" tIns="0" bIns="0">
            <a:spAutoFit/>
          </a:bodyPr>
          <a:lstStyle/>
          <a:p>
            <a:pPr algn="l"/>
            <a:r>
              <a:rPr sz="4400" b="1" i="0">
                <a:solidFill>
                  <a:srgbClr val="FFFFFF"/>
                </a:solidFill>
                <a:latin typeface="Cambria"/>
              </a:rPr>
              <a:t>Automatic Fraud Detection</a:t>
            </a:r>
          </a:p>
        </p:txBody>
      </p:sp>
      <p:sp>
        <p:nvSpPr>
          <p:cNvPr id="3" name="TextBox 2"/>
          <p:cNvSpPr txBox="1"/>
          <p:nvPr/>
        </p:nvSpPr>
        <p:spPr>
          <a:xfrm>
            <a:off x="731520" y="2057400"/>
            <a:ext cx="10515600" cy="548640"/>
          </a:xfrm>
          <a:prstGeom prst="rect">
            <a:avLst/>
          </a:prstGeom>
          <a:noFill/>
        </p:spPr>
        <p:txBody>
          <a:bodyPr wrap="square" anchor="t" lIns="0" rIns="0" tIns="0" bIns="0">
            <a:spAutoFit/>
          </a:bodyPr>
          <a:lstStyle/>
          <a:p>
            <a:pPr algn="l"/>
            <a:r>
              <a:rPr sz="2000" b="0" i="0">
                <a:solidFill>
                  <a:srgbClr val="CAD3E6"/>
                </a:solidFill>
                <a:latin typeface="Calibri"/>
              </a:rPr>
              <a:t>Plan du pipeline de détection de fraude en temps réel — ETL with Airflow</a:t>
            </a:r>
          </a:p>
        </p:txBody>
      </p:sp>
      <p:sp>
        <p:nvSpPr>
          <p:cNvPr id="4" name="TextBox 3"/>
          <p:cNvSpPr txBox="1"/>
          <p:nvPr/>
        </p:nvSpPr>
        <p:spPr>
          <a:xfrm>
            <a:off x="731520" y="2606040"/>
            <a:ext cx="10515600" cy="365760"/>
          </a:xfrm>
          <a:prstGeom prst="rect">
            <a:avLst/>
          </a:prstGeom>
          <a:noFill/>
        </p:spPr>
        <p:txBody>
          <a:bodyPr wrap="square" anchor="t" lIns="0" rIns="0" tIns="0" bIns="0">
            <a:spAutoFit/>
          </a:bodyPr>
          <a:lstStyle/>
          <a:p>
            <a:pPr algn="l"/>
            <a:r>
              <a:rPr sz="1300" b="0" i="0">
                <a:solidFill>
                  <a:srgbClr val="9AA7C2"/>
                </a:solidFill>
                <a:latin typeface="Calibri"/>
              </a:rPr>
              <a:t>Emeline ROBLOT · Jedha · septembre 2026 · github.com/emelineroblot/automatic-fraud-detection</a:t>
            </a:r>
          </a:p>
        </p:txBody>
      </p:sp>
      <p:sp>
        <p:nvSpPr>
          <p:cNvPr id="5" name="Rounded Rectangle 4"/>
          <p:cNvSpPr/>
          <p:nvPr/>
        </p:nvSpPr>
        <p:spPr>
          <a:xfrm>
            <a:off x="731520" y="3840480"/>
            <a:ext cx="2514600" cy="1737360"/>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4023360"/>
            <a:ext cx="2148840" cy="731520"/>
          </a:xfrm>
          <a:prstGeom prst="rect">
            <a:avLst/>
          </a:prstGeom>
          <a:noFill/>
        </p:spPr>
        <p:txBody>
          <a:bodyPr wrap="square" anchor="t" lIns="0" rIns="0" tIns="0" bIns="0">
            <a:spAutoFit/>
          </a:bodyPr>
          <a:lstStyle/>
          <a:p>
            <a:pPr algn="l"/>
            <a:r>
              <a:rPr sz="3000" b="1" i="0">
                <a:solidFill>
                  <a:srgbClr val="FCA311"/>
                </a:solidFill>
                <a:latin typeface="Cambria"/>
              </a:rPr>
              <a:t>1 tx / min</a:t>
            </a:r>
          </a:p>
        </p:txBody>
      </p:sp>
      <p:sp>
        <p:nvSpPr>
          <p:cNvPr id="7" name="TextBox 6"/>
          <p:cNvSpPr txBox="1"/>
          <p:nvPr/>
        </p:nvSpPr>
        <p:spPr>
          <a:xfrm>
            <a:off x="914400" y="4754880"/>
            <a:ext cx="2148840" cy="731520"/>
          </a:xfrm>
          <a:prstGeom prst="rect">
            <a:avLst/>
          </a:prstGeom>
          <a:noFill/>
        </p:spPr>
        <p:txBody>
          <a:bodyPr wrap="square" anchor="t" lIns="0" rIns="0" tIns="0" bIns="0">
            <a:spAutoFit/>
          </a:bodyPr>
          <a:lstStyle/>
          <a:p>
            <a:pPr algn="l"/>
            <a:r>
              <a:rPr sz="1200" b="0" i="0">
                <a:solidFill>
                  <a:srgbClr val="CAD3E6"/>
                </a:solidFill>
                <a:latin typeface="Calibri"/>
              </a:rPr>
              <a:t>collectée depuis l'API et scorée par Airflow</a:t>
            </a:r>
          </a:p>
        </p:txBody>
      </p:sp>
      <p:sp>
        <p:nvSpPr>
          <p:cNvPr id="8" name="Rounded Rectangle 7"/>
          <p:cNvSpPr/>
          <p:nvPr/>
        </p:nvSpPr>
        <p:spPr>
          <a:xfrm>
            <a:off x="3474720" y="3840480"/>
            <a:ext cx="2514600" cy="1737360"/>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0" y="4023360"/>
            <a:ext cx="2148840" cy="731520"/>
          </a:xfrm>
          <a:prstGeom prst="rect">
            <a:avLst/>
          </a:prstGeom>
          <a:noFill/>
        </p:spPr>
        <p:txBody>
          <a:bodyPr wrap="square" anchor="t" lIns="0" rIns="0" tIns="0" bIns="0">
            <a:spAutoFit/>
          </a:bodyPr>
          <a:lstStyle/>
          <a:p>
            <a:pPr algn="l"/>
            <a:r>
              <a:rPr sz="3000" b="1" i="0">
                <a:solidFill>
                  <a:srgbClr val="FCA311"/>
                </a:solidFill>
                <a:latin typeface="Cambria"/>
              </a:rPr>
              <a:t>&lt; 30 s</a:t>
            </a:r>
          </a:p>
        </p:txBody>
      </p:sp>
      <p:sp>
        <p:nvSpPr>
          <p:cNvPr id="10" name="TextBox 9"/>
          <p:cNvSpPr txBox="1"/>
          <p:nvPr/>
        </p:nvSpPr>
        <p:spPr>
          <a:xfrm>
            <a:off x="3657600" y="4754880"/>
            <a:ext cx="2148840" cy="731520"/>
          </a:xfrm>
          <a:prstGeom prst="rect">
            <a:avLst/>
          </a:prstGeom>
          <a:noFill/>
        </p:spPr>
        <p:txBody>
          <a:bodyPr wrap="square" anchor="t" lIns="0" rIns="0" tIns="0" bIns="0">
            <a:spAutoFit/>
          </a:bodyPr>
          <a:lstStyle/>
          <a:p>
            <a:pPr algn="l"/>
            <a:r>
              <a:rPr sz="1200" b="0" i="0">
                <a:solidFill>
                  <a:srgbClr val="CAD3E6"/>
                </a:solidFill>
                <a:latin typeface="Calibri"/>
              </a:rPr>
              <a:t>entre la réception d'une transaction et l'alerte Discord</a:t>
            </a:r>
          </a:p>
        </p:txBody>
      </p:sp>
      <p:sp>
        <p:nvSpPr>
          <p:cNvPr id="11" name="Rounded Rectangle 10"/>
          <p:cNvSpPr/>
          <p:nvPr/>
        </p:nvSpPr>
        <p:spPr>
          <a:xfrm>
            <a:off x="6217920" y="3840480"/>
            <a:ext cx="2514600" cy="1737360"/>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0" y="4023360"/>
            <a:ext cx="2148840" cy="731520"/>
          </a:xfrm>
          <a:prstGeom prst="rect">
            <a:avLst/>
          </a:prstGeom>
          <a:noFill/>
        </p:spPr>
        <p:txBody>
          <a:bodyPr wrap="square" anchor="t" lIns="0" rIns="0" tIns="0" bIns="0">
            <a:spAutoFit/>
          </a:bodyPr>
          <a:lstStyle/>
          <a:p>
            <a:pPr algn="l"/>
            <a:r>
              <a:rPr sz="3000" b="1" i="0">
                <a:solidFill>
                  <a:srgbClr val="FCA311"/>
                </a:solidFill>
                <a:latin typeface="Cambria"/>
              </a:rPr>
              <a:t>0,805</a:t>
            </a:r>
          </a:p>
        </p:txBody>
      </p:sp>
      <p:sp>
        <p:nvSpPr>
          <p:cNvPr id="13" name="TextBox 12"/>
          <p:cNvSpPr txBox="1"/>
          <p:nvPr/>
        </p:nvSpPr>
        <p:spPr>
          <a:xfrm>
            <a:off x="6400800" y="4754880"/>
            <a:ext cx="2148840" cy="731520"/>
          </a:xfrm>
          <a:prstGeom prst="rect">
            <a:avLst/>
          </a:prstGeom>
          <a:noFill/>
        </p:spPr>
        <p:txBody>
          <a:bodyPr wrap="square" anchor="t" lIns="0" rIns="0" tIns="0" bIns="0">
            <a:spAutoFit/>
          </a:bodyPr>
          <a:lstStyle/>
          <a:p>
            <a:pPr algn="l"/>
            <a:r>
              <a:rPr sz="1200" b="0" i="0">
                <a:solidFill>
                  <a:srgbClr val="CAD3E6"/>
                </a:solidFill>
                <a:latin typeface="Calibri"/>
              </a:rPr>
              <a:t>PR-AUC du RandomForest retenu — split temporel, 0,39 % de fraudes</a:t>
            </a:r>
          </a:p>
        </p:txBody>
      </p:sp>
      <p:sp>
        <p:nvSpPr>
          <p:cNvPr id="14" name="Rounded Rectangle 13"/>
          <p:cNvSpPr/>
          <p:nvPr/>
        </p:nvSpPr>
        <p:spPr>
          <a:xfrm>
            <a:off x="8961120" y="3840480"/>
            <a:ext cx="2514600" cy="1737360"/>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0" y="4023360"/>
            <a:ext cx="2148840" cy="731520"/>
          </a:xfrm>
          <a:prstGeom prst="rect">
            <a:avLst/>
          </a:prstGeom>
          <a:noFill/>
        </p:spPr>
        <p:txBody>
          <a:bodyPr wrap="square" anchor="t" lIns="0" rIns="0" tIns="0" bIns="0">
            <a:spAutoFit/>
          </a:bodyPr>
          <a:lstStyle/>
          <a:p>
            <a:pPr algn="l"/>
            <a:r>
              <a:rPr sz="3000" b="1" i="0">
                <a:solidFill>
                  <a:srgbClr val="FCA311"/>
                </a:solidFill>
                <a:latin typeface="Cambria"/>
              </a:rPr>
              <a:t>19</a:t>
            </a:r>
          </a:p>
        </p:txBody>
      </p:sp>
      <p:sp>
        <p:nvSpPr>
          <p:cNvPr id="16" name="TextBox 15"/>
          <p:cNvSpPr txBox="1"/>
          <p:nvPr/>
        </p:nvSpPr>
        <p:spPr>
          <a:xfrm>
            <a:off x="9144000" y="4754880"/>
            <a:ext cx="2148840" cy="731520"/>
          </a:xfrm>
          <a:prstGeom prst="rect">
            <a:avLst/>
          </a:prstGeom>
          <a:noFill/>
        </p:spPr>
        <p:txBody>
          <a:bodyPr wrap="square" anchor="t" lIns="0" rIns="0" tIns="0" bIns="0">
            <a:spAutoFit/>
          </a:bodyPr>
          <a:lstStyle/>
          <a:p>
            <a:pPr algn="l"/>
            <a:r>
              <a:rPr sz="1200" b="0" i="0">
                <a:solidFill>
                  <a:srgbClr val="CAD3E6"/>
                </a:solidFill>
                <a:latin typeface="Calibri"/>
              </a:rPr>
              <a:t>ressources AWS déclarées en Terraform (EC2, S3, IAM, réseau, secrets)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0" rIns="0" tIns="0" bIns="0">
            <a:spAutoFit/>
          </a:bodyPr>
          <a:lstStyle/>
          <a:p>
            <a:pPr algn="l"/>
            <a:r>
              <a:rPr sz="3200" b="1" i="0">
                <a:solidFill>
                  <a:srgbClr val="14213D"/>
                </a:solidFill>
                <a:latin typeface="Cambria"/>
              </a:rPr>
              <a:t>Deux besoins métier, deux pipelines Airflow</a:t>
            </a:r>
          </a:p>
        </p:txBody>
      </p:sp>
      <p:sp>
        <p:nvSpPr>
          <p:cNvPr id="3" name="Rounded Rectangle 2"/>
          <p:cNvSpPr/>
          <p:nvPr/>
        </p:nvSpPr>
        <p:spPr>
          <a:xfrm>
            <a:off x="548640" y="1280160"/>
            <a:ext cx="5440680" cy="466344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22960" y="1463040"/>
            <a:ext cx="4892040" cy="640080"/>
          </a:xfrm>
          <a:prstGeom prst="rect">
            <a:avLst/>
          </a:prstGeom>
          <a:noFill/>
        </p:spPr>
        <p:txBody>
          <a:bodyPr wrap="square" anchor="t" lIns="0" rIns="0" tIns="0" bIns="0">
            <a:spAutoFit/>
          </a:bodyPr>
          <a:lstStyle/>
          <a:p>
            <a:pPr algn="l"/>
            <a:r>
              <a:rPr sz="1600" b="1" i="0">
                <a:solidFill>
                  <a:srgbClr val="14213D"/>
                </a:solidFill>
                <a:latin typeface="Cambria"/>
              </a:rPr>
              <a:t>Besoin 1 — être notifié dès qu'une fraude est détectée</a:t>
            </a:r>
          </a:p>
        </p:txBody>
      </p:sp>
      <p:sp>
        <p:nvSpPr>
          <p:cNvPr id="5" name="TextBox 4"/>
          <p:cNvSpPr txBox="1"/>
          <p:nvPr/>
        </p:nvSpPr>
        <p:spPr>
          <a:xfrm>
            <a:off x="822960" y="2103120"/>
            <a:ext cx="4892040" cy="320040"/>
          </a:xfrm>
          <a:prstGeom prst="rect">
            <a:avLst/>
          </a:prstGeom>
          <a:noFill/>
        </p:spPr>
        <p:txBody>
          <a:bodyPr wrap="square" anchor="t" lIns="0" rIns="0" tIns="0" bIns="0">
            <a:spAutoFit/>
          </a:bodyPr>
          <a:lstStyle/>
          <a:p>
            <a:pPr algn="l"/>
            <a:r>
              <a:rPr sz="1100" b="0" i="1">
                <a:solidFill>
                  <a:srgbClr val="6B7280"/>
                </a:solidFill>
                <a:latin typeface="Calibri"/>
              </a:rPr>
              <a:t>DAG fraud_realtime · schedule * * * * * · run ≈ 18 s</a:t>
            </a:r>
          </a:p>
        </p:txBody>
      </p:sp>
      <p:sp>
        <p:nvSpPr>
          <p:cNvPr id="6" name="Rounded Rectangle 5"/>
          <p:cNvSpPr/>
          <p:nvPr/>
        </p:nvSpPr>
        <p:spPr>
          <a:xfrm>
            <a:off x="822960" y="2514600"/>
            <a:ext cx="723900"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514600"/>
            <a:ext cx="723900" cy="384048"/>
          </a:xfrm>
          <a:prstGeom prst="rect">
            <a:avLst/>
          </a:prstGeom>
          <a:noFill/>
        </p:spPr>
        <p:txBody>
          <a:bodyPr wrap="square" anchor="ctr" lIns="0" rIns="0" tIns="0" bIns="0">
            <a:spAutoFit/>
          </a:bodyPr>
          <a:lstStyle/>
          <a:p>
            <a:pPr algn="ctr"/>
            <a:r>
              <a:rPr sz="950" b="1" i="0">
                <a:solidFill>
                  <a:srgbClr val="FFFFFF"/>
                </a:solidFill>
                <a:latin typeface="Calibri"/>
              </a:rPr>
              <a:t>extract</a:t>
            </a:r>
          </a:p>
        </p:txBody>
      </p:sp>
      <p:sp>
        <p:nvSpPr>
          <p:cNvPr id="8" name="Rounded Rectangle 7"/>
          <p:cNvSpPr/>
          <p:nvPr/>
        </p:nvSpPr>
        <p:spPr>
          <a:xfrm>
            <a:off x="1656588" y="2514600"/>
            <a:ext cx="723900"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56588" y="2514600"/>
            <a:ext cx="723900" cy="384048"/>
          </a:xfrm>
          <a:prstGeom prst="rect">
            <a:avLst/>
          </a:prstGeom>
          <a:noFill/>
        </p:spPr>
        <p:txBody>
          <a:bodyPr wrap="square" anchor="ctr" lIns="0" rIns="0" tIns="0" bIns="0">
            <a:spAutoFit/>
          </a:bodyPr>
          <a:lstStyle/>
          <a:p>
            <a:pPr algn="ctr"/>
            <a:r>
              <a:rPr sz="950" b="1" i="0">
                <a:solidFill>
                  <a:srgbClr val="FFFFFF"/>
                </a:solidFill>
                <a:latin typeface="Calibri"/>
              </a:rPr>
              <a:t>transform</a:t>
            </a:r>
          </a:p>
        </p:txBody>
      </p:sp>
      <p:sp>
        <p:nvSpPr>
          <p:cNvPr id="10" name="Rounded Rectangle 9"/>
          <p:cNvSpPr/>
          <p:nvPr/>
        </p:nvSpPr>
        <p:spPr>
          <a:xfrm>
            <a:off x="2490216" y="2514600"/>
            <a:ext cx="723900"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90216" y="2514600"/>
            <a:ext cx="723900" cy="384048"/>
          </a:xfrm>
          <a:prstGeom prst="rect">
            <a:avLst/>
          </a:prstGeom>
          <a:noFill/>
        </p:spPr>
        <p:txBody>
          <a:bodyPr wrap="square" anchor="ctr" lIns="0" rIns="0" tIns="0" bIns="0">
            <a:spAutoFit/>
          </a:bodyPr>
          <a:lstStyle/>
          <a:p>
            <a:pPr algn="ctr"/>
            <a:r>
              <a:rPr sz="950" b="1" i="0">
                <a:solidFill>
                  <a:srgbClr val="FFFFFF"/>
                </a:solidFill>
                <a:latin typeface="Calibri"/>
              </a:rPr>
              <a:t>predict</a:t>
            </a:r>
          </a:p>
        </p:txBody>
      </p:sp>
      <p:sp>
        <p:nvSpPr>
          <p:cNvPr id="12" name="Rounded Rectangle 11"/>
          <p:cNvSpPr/>
          <p:nvPr/>
        </p:nvSpPr>
        <p:spPr>
          <a:xfrm>
            <a:off x="3323844" y="2514600"/>
            <a:ext cx="723900"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323844" y="2514600"/>
            <a:ext cx="723900" cy="384048"/>
          </a:xfrm>
          <a:prstGeom prst="rect">
            <a:avLst/>
          </a:prstGeom>
          <a:noFill/>
        </p:spPr>
        <p:txBody>
          <a:bodyPr wrap="square" anchor="ctr" lIns="0" rIns="0" tIns="0" bIns="0">
            <a:spAutoFit/>
          </a:bodyPr>
          <a:lstStyle/>
          <a:p>
            <a:pPr algn="ctr"/>
            <a:r>
              <a:rPr sz="950" b="1" i="0">
                <a:solidFill>
                  <a:srgbClr val="FFFFFF"/>
                </a:solidFill>
                <a:latin typeface="Calibri"/>
              </a:rPr>
              <a:t>load</a:t>
            </a:r>
          </a:p>
        </p:txBody>
      </p:sp>
      <p:sp>
        <p:nvSpPr>
          <p:cNvPr id="14" name="Rounded Rectangle 13"/>
          <p:cNvSpPr/>
          <p:nvPr/>
        </p:nvSpPr>
        <p:spPr>
          <a:xfrm>
            <a:off x="4157472" y="2514600"/>
            <a:ext cx="723900"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57472" y="2514600"/>
            <a:ext cx="723900" cy="384048"/>
          </a:xfrm>
          <a:prstGeom prst="rect">
            <a:avLst/>
          </a:prstGeom>
          <a:noFill/>
        </p:spPr>
        <p:txBody>
          <a:bodyPr wrap="square" anchor="ctr" lIns="0" rIns="0" tIns="0" bIns="0">
            <a:spAutoFit/>
          </a:bodyPr>
          <a:lstStyle/>
          <a:p>
            <a:pPr algn="ctr"/>
            <a:r>
              <a:rPr sz="950" b="1" i="0">
                <a:solidFill>
                  <a:srgbClr val="FFFFFF"/>
                </a:solidFill>
                <a:latin typeface="Calibri"/>
              </a:rPr>
              <a:t>check_fraud</a:t>
            </a:r>
          </a:p>
        </p:txBody>
      </p:sp>
      <p:sp>
        <p:nvSpPr>
          <p:cNvPr id="16" name="Rounded Rectangle 15"/>
          <p:cNvSpPr/>
          <p:nvPr/>
        </p:nvSpPr>
        <p:spPr>
          <a:xfrm>
            <a:off x="4991100" y="2514600"/>
            <a:ext cx="723900" cy="384048"/>
          </a:xfrm>
          <a:prstGeom prst="roundRect">
            <a:avLst>
              <a:gd name="adj" fmla="val 30000"/>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991100" y="2514600"/>
            <a:ext cx="723900" cy="384048"/>
          </a:xfrm>
          <a:prstGeom prst="rect">
            <a:avLst/>
          </a:prstGeom>
          <a:noFill/>
        </p:spPr>
        <p:txBody>
          <a:bodyPr wrap="square" anchor="ctr" lIns="0" rIns="0" tIns="0" bIns="0">
            <a:spAutoFit/>
          </a:bodyPr>
          <a:lstStyle/>
          <a:p>
            <a:pPr algn="ctr"/>
            <a:r>
              <a:rPr sz="950" b="1" i="0">
                <a:solidFill>
                  <a:srgbClr val="FFFFFF"/>
                </a:solidFill>
                <a:latin typeface="Calibri"/>
              </a:rPr>
              <a:t>alert | no_fraud</a:t>
            </a:r>
          </a:p>
        </p:txBody>
      </p:sp>
      <p:sp>
        <p:nvSpPr>
          <p:cNvPr id="18" name="TextBox 17"/>
          <p:cNvSpPr txBox="1"/>
          <p:nvPr/>
        </p:nvSpPr>
        <p:spPr>
          <a:xfrm>
            <a:off x="822960" y="3108960"/>
            <a:ext cx="4892040" cy="2743200"/>
          </a:xfrm>
          <a:prstGeom prst="rect">
            <a:avLst/>
          </a:prstGeom>
          <a:noFill/>
        </p:spPr>
        <p:txBody>
          <a:bodyPr wrap="square" anchor="t" lIns="0" rIns="0" tIns="0" bIns="0">
            <a:spAutoFit/>
          </a:bodyPr>
          <a:lstStyle/>
          <a:p>
            <a:pPr algn="l">
              <a:spcAft>
                <a:spcPts val="600"/>
              </a:spcAft>
            </a:pPr>
            <a:r>
              <a:rPr sz="1300" b="0" i="0">
                <a:solidFill>
                  <a:srgbClr val="1F242B"/>
                </a:solidFill>
                <a:latin typeface="Calibri"/>
              </a:rPr>
              <a:t>extract : GET de l'API (JSON double-encodé), 2 retries</a:t>
            </a:r>
          </a:p>
          <a:p>
            <a:pPr algn="l">
              <a:spcAft>
                <a:spcPts val="600"/>
              </a:spcAft>
            </a:pPr>
            <a:r>
              <a:rPr sz="1300" b="0" i="0">
                <a:solidFill>
                  <a:srgbClr val="1F242B"/>
                </a:solidFill>
                <a:latin typeface="Calibri"/>
              </a:rPr>
              <a:t>transform : normalisation, current_time (ms) → trans_time UTC</a:t>
            </a:r>
          </a:p>
          <a:p>
            <a:pPr algn="l">
              <a:spcAft>
                <a:spcPts val="600"/>
              </a:spcAft>
            </a:pPr>
            <a:r>
              <a:rPr sz="1300" b="0" i="0">
                <a:solidFill>
                  <a:srgbClr val="1F242B"/>
                </a:solidFill>
                <a:latin typeface="Calibri"/>
              </a:rPr>
              <a:t>predict : modèle chargé depuis MLflow (models:/fraud_detection@production)</a:t>
            </a:r>
          </a:p>
          <a:p>
            <a:pPr algn="l">
              <a:spcAft>
                <a:spcPts val="600"/>
              </a:spcAft>
            </a:pPr>
            <a:r>
              <a:rPr sz="1300" b="0" i="0">
                <a:solidFill>
                  <a:srgbClr val="1F242B"/>
                </a:solidFill>
                <a:latin typeface="Calibri"/>
              </a:rPr>
              <a:t>load : INSERT … ON CONFLICT (trans_num) DO NOTHING RETURNING — dédoublonnage</a:t>
            </a:r>
          </a:p>
          <a:p>
            <a:pPr algn="l">
              <a:spcAft>
                <a:spcPts val="600"/>
              </a:spcAft>
            </a:pPr>
            <a:r>
              <a:rPr sz="1300" b="0" i="0">
                <a:solidFill>
                  <a:srgbClr val="1F242B"/>
                </a:solidFill>
                <a:latin typeface="Calibri"/>
              </a:rPr>
              <a:t>check_fraud : branche → alert (embed Discord + trace fraud_alerts) ou no_fraud</a:t>
            </a:r>
          </a:p>
          <a:p>
            <a:pPr algn="l">
              <a:spcAft>
                <a:spcPts val="600"/>
              </a:spcAft>
            </a:pPr>
            <a:r>
              <a:rPr sz="1300" b="0" i="0">
                <a:solidFill>
                  <a:srgbClr val="1F242B"/>
                </a:solidFill>
                <a:latin typeface="Calibri"/>
              </a:rPr>
              <a:t>Garde-fous : max_active_runs = 1, catchup = False, dagrun_timeout 5 min</a:t>
            </a:r>
          </a:p>
        </p:txBody>
      </p:sp>
      <p:sp>
        <p:nvSpPr>
          <p:cNvPr id="19" name="Rounded Rectangle 18"/>
          <p:cNvSpPr/>
          <p:nvPr/>
        </p:nvSpPr>
        <p:spPr>
          <a:xfrm>
            <a:off x="6217920" y="1280160"/>
            <a:ext cx="5440680" cy="4663440"/>
          </a:xfrm>
          <a:prstGeom prst="roundRect">
            <a:avLst>
              <a:gd name="adj" fmla="val 8000"/>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463040"/>
            <a:ext cx="4892040" cy="640080"/>
          </a:xfrm>
          <a:prstGeom prst="rect">
            <a:avLst/>
          </a:prstGeom>
          <a:noFill/>
        </p:spPr>
        <p:txBody>
          <a:bodyPr wrap="square" anchor="t" lIns="0" rIns="0" tIns="0" bIns="0">
            <a:spAutoFit/>
          </a:bodyPr>
          <a:lstStyle/>
          <a:p>
            <a:pPr algn="l"/>
            <a:r>
              <a:rPr sz="1600" b="1" i="0">
                <a:solidFill>
                  <a:srgbClr val="14213D"/>
                </a:solidFill>
                <a:latin typeface="Cambria"/>
              </a:rPr>
              <a:t>Besoin 2 — chaque matin, les paiements et fraudes de la veille</a:t>
            </a:r>
          </a:p>
        </p:txBody>
      </p:sp>
      <p:sp>
        <p:nvSpPr>
          <p:cNvPr id="21" name="TextBox 20"/>
          <p:cNvSpPr txBox="1"/>
          <p:nvPr/>
        </p:nvSpPr>
        <p:spPr>
          <a:xfrm>
            <a:off x="6492240" y="2103120"/>
            <a:ext cx="4892040" cy="320040"/>
          </a:xfrm>
          <a:prstGeom prst="rect">
            <a:avLst/>
          </a:prstGeom>
          <a:noFill/>
        </p:spPr>
        <p:txBody>
          <a:bodyPr wrap="square" anchor="t" lIns="0" rIns="0" tIns="0" bIns="0">
            <a:spAutoFit/>
          </a:bodyPr>
          <a:lstStyle/>
          <a:p>
            <a:pPr algn="l"/>
            <a:r>
              <a:rPr sz="1100" b="0" i="1">
                <a:solidFill>
                  <a:srgbClr val="6B7280"/>
                </a:solidFill>
                <a:latin typeface="Calibri"/>
              </a:rPr>
              <a:t>DAG fraud_daily_report · schedule 0 6 * * * (Europe/Paris)</a:t>
            </a:r>
          </a:p>
        </p:txBody>
      </p:sp>
      <p:sp>
        <p:nvSpPr>
          <p:cNvPr id="22" name="Rounded Rectangle 21"/>
          <p:cNvSpPr/>
          <p:nvPr/>
        </p:nvSpPr>
        <p:spPr>
          <a:xfrm>
            <a:off x="6492240" y="2514600"/>
            <a:ext cx="890625"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514600"/>
            <a:ext cx="890625" cy="384048"/>
          </a:xfrm>
          <a:prstGeom prst="rect">
            <a:avLst/>
          </a:prstGeom>
          <a:noFill/>
        </p:spPr>
        <p:txBody>
          <a:bodyPr wrap="square" anchor="ctr" lIns="0" rIns="0" tIns="0" bIns="0">
            <a:spAutoFit/>
          </a:bodyPr>
          <a:lstStyle/>
          <a:p>
            <a:pPr algn="ctr"/>
            <a:r>
              <a:rPr sz="950" b="1" i="0">
                <a:solidFill>
                  <a:srgbClr val="FFFFFF"/>
                </a:solidFill>
                <a:latin typeface="Calibri"/>
              </a:rPr>
              <a:t>aggregate</a:t>
            </a:r>
          </a:p>
        </p:txBody>
      </p:sp>
      <p:sp>
        <p:nvSpPr>
          <p:cNvPr id="24" name="Rounded Rectangle 23"/>
          <p:cNvSpPr/>
          <p:nvPr/>
        </p:nvSpPr>
        <p:spPr>
          <a:xfrm>
            <a:off x="7492593" y="2514600"/>
            <a:ext cx="890625"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492593" y="2514600"/>
            <a:ext cx="890625" cy="384048"/>
          </a:xfrm>
          <a:prstGeom prst="rect">
            <a:avLst/>
          </a:prstGeom>
          <a:noFill/>
        </p:spPr>
        <p:txBody>
          <a:bodyPr wrap="square" anchor="ctr" lIns="0" rIns="0" tIns="0" bIns="0">
            <a:spAutoFit/>
          </a:bodyPr>
          <a:lstStyle/>
          <a:p>
            <a:pPr algn="ctr"/>
            <a:r>
              <a:rPr sz="950" b="1" i="0">
                <a:solidFill>
                  <a:srgbClr val="FFFFFF"/>
                </a:solidFill>
                <a:latin typeface="Calibri"/>
              </a:rPr>
              <a:t>export_csv</a:t>
            </a:r>
          </a:p>
        </p:txBody>
      </p:sp>
      <p:sp>
        <p:nvSpPr>
          <p:cNvPr id="26" name="Rounded Rectangle 25"/>
          <p:cNvSpPr/>
          <p:nvPr/>
        </p:nvSpPr>
        <p:spPr>
          <a:xfrm>
            <a:off x="8492947" y="2514600"/>
            <a:ext cx="890625"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2947" y="2514600"/>
            <a:ext cx="890625" cy="384048"/>
          </a:xfrm>
          <a:prstGeom prst="rect">
            <a:avLst/>
          </a:prstGeom>
          <a:noFill/>
        </p:spPr>
        <p:txBody>
          <a:bodyPr wrap="square" anchor="ctr" lIns="0" rIns="0" tIns="0" bIns="0">
            <a:spAutoFit/>
          </a:bodyPr>
          <a:lstStyle/>
          <a:p>
            <a:pPr algn="ctr"/>
            <a:r>
              <a:rPr sz="950" b="1" i="0">
                <a:solidFill>
                  <a:srgbClr val="FFFFFF"/>
                </a:solidFill>
                <a:latin typeface="Calibri"/>
              </a:rPr>
              <a:t>archive_s3</a:t>
            </a:r>
          </a:p>
        </p:txBody>
      </p:sp>
      <p:sp>
        <p:nvSpPr>
          <p:cNvPr id="28" name="Rounded Rectangle 27"/>
          <p:cNvSpPr/>
          <p:nvPr/>
        </p:nvSpPr>
        <p:spPr>
          <a:xfrm>
            <a:off x="9493300" y="2514600"/>
            <a:ext cx="890625" cy="384048"/>
          </a:xfrm>
          <a:prstGeom prst="roundRect">
            <a:avLst>
              <a:gd name="adj" fmla="val 30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493300" y="2514600"/>
            <a:ext cx="890625" cy="384048"/>
          </a:xfrm>
          <a:prstGeom prst="rect">
            <a:avLst/>
          </a:prstGeom>
          <a:noFill/>
        </p:spPr>
        <p:txBody>
          <a:bodyPr wrap="square" anchor="ctr" lIns="0" rIns="0" tIns="0" bIns="0">
            <a:spAutoFit/>
          </a:bodyPr>
          <a:lstStyle/>
          <a:p>
            <a:pPr algn="ctr"/>
            <a:r>
              <a:rPr sz="950" b="1" i="0">
                <a:solidFill>
                  <a:srgbClr val="FFFFFF"/>
                </a:solidFill>
                <a:latin typeface="Calibri"/>
              </a:rPr>
              <a:t>store</a:t>
            </a:r>
          </a:p>
        </p:txBody>
      </p:sp>
      <p:sp>
        <p:nvSpPr>
          <p:cNvPr id="30" name="Rounded Rectangle 29"/>
          <p:cNvSpPr/>
          <p:nvPr/>
        </p:nvSpPr>
        <p:spPr>
          <a:xfrm>
            <a:off x="10493654" y="2514600"/>
            <a:ext cx="890625" cy="384048"/>
          </a:xfrm>
          <a:prstGeom prst="roundRect">
            <a:avLst>
              <a:gd name="adj" fmla="val 30000"/>
            </a:avLst>
          </a:prstGeom>
          <a:solidFill>
            <a:srgbClr val="FCA3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493654" y="2514600"/>
            <a:ext cx="890625" cy="384048"/>
          </a:xfrm>
          <a:prstGeom prst="rect">
            <a:avLst/>
          </a:prstGeom>
          <a:noFill/>
        </p:spPr>
        <p:txBody>
          <a:bodyPr wrap="square" anchor="ctr" lIns="0" rIns="0" tIns="0" bIns="0">
            <a:spAutoFit/>
          </a:bodyPr>
          <a:lstStyle/>
          <a:p>
            <a:pPr algn="ctr"/>
            <a:r>
              <a:rPr sz="950" b="1" i="0">
                <a:solidFill>
                  <a:srgbClr val="FFFFFF"/>
                </a:solidFill>
                <a:latin typeface="Calibri"/>
              </a:rPr>
              <a:t>notify</a:t>
            </a:r>
          </a:p>
        </p:txBody>
      </p:sp>
      <p:sp>
        <p:nvSpPr>
          <p:cNvPr id="32" name="TextBox 31"/>
          <p:cNvSpPr txBox="1"/>
          <p:nvPr/>
        </p:nvSpPr>
        <p:spPr>
          <a:xfrm>
            <a:off x="6492240" y="3108960"/>
            <a:ext cx="4892040" cy="2743200"/>
          </a:xfrm>
          <a:prstGeom prst="rect">
            <a:avLst/>
          </a:prstGeom>
          <a:noFill/>
        </p:spPr>
        <p:txBody>
          <a:bodyPr wrap="square" anchor="t" lIns="0" rIns="0" tIns="0" bIns="0">
            <a:spAutoFit/>
          </a:bodyPr>
          <a:lstStyle/>
          <a:p>
            <a:pPr algn="l">
              <a:spcAft>
                <a:spcPts val="600"/>
              </a:spcAft>
            </a:pPr>
            <a:r>
              <a:rPr sz="1300" b="0" i="0">
                <a:solidFill>
                  <a:srgbClr val="1F242B"/>
                </a:solidFill>
                <a:latin typeface="Calibri"/>
              </a:rPr>
              <a:t>aggregate : volumes, montants, top catégories / états, répartition horaire</a:t>
            </a:r>
          </a:p>
          <a:p>
            <a:pPr algn="l">
              <a:spcAft>
                <a:spcPts val="600"/>
              </a:spcAft>
            </a:pPr>
            <a:r>
              <a:rPr sz="1300" b="0" i="0">
                <a:solidFill>
                  <a:srgbClr val="1F242B"/>
                </a:solidFill>
                <a:latin typeface="Calibri"/>
              </a:rPr>
              <a:t>précision et rappel du jour vs label fourni par l'API (vérité terrain)</a:t>
            </a:r>
          </a:p>
          <a:p>
            <a:pPr algn="l">
              <a:spcAft>
                <a:spcPts val="600"/>
              </a:spcAft>
            </a:pPr>
            <a:r>
              <a:rPr sz="1300" b="0" i="0">
                <a:solidFill>
                  <a:srgbClr val="1F242B"/>
                </a:solidFill>
                <a:latin typeface="Calibri"/>
              </a:rPr>
              <a:t>export_csv : reports/transactions_&lt;date&gt;.csv → archive_s3 : s3://…/reports/</a:t>
            </a:r>
          </a:p>
          <a:p>
            <a:pPr algn="l">
              <a:spcAft>
                <a:spcPts val="600"/>
              </a:spcAft>
            </a:pPr>
            <a:r>
              <a:rPr sz="1300" b="0" i="0">
                <a:solidFill>
                  <a:srgbClr val="1F242B"/>
                </a:solidFill>
                <a:latin typeface="Calibri"/>
              </a:rPr>
              <a:t>store : table daily_reports (agrégats + payload JSONB)</a:t>
            </a:r>
          </a:p>
          <a:p>
            <a:pPr algn="l">
              <a:spcAft>
                <a:spcPts val="600"/>
              </a:spcAft>
            </a:pPr>
            <a:r>
              <a:rPr sz="1300" b="0" i="0">
                <a:solidFill>
                  <a:srgbClr val="1F242B"/>
                </a:solidFill>
                <a:latin typeface="Calibri"/>
              </a:rPr>
              <a:t>notify : embed Discord récapitulatif</a:t>
            </a:r>
          </a:p>
          <a:p>
            <a:pPr algn="l">
              <a:spcAft>
                <a:spcPts val="600"/>
              </a:spcAft>
            </a:pPr>
            <a:r>
              <a:rPr sz="1300" b="0" i="0">
                <a:solidFill>
                  <a:srgbClr val="1F242B"/>
                </a:solidFill>
                <a:latin typeface="Calibri"/>
              </a:rPr>
              <a:t>Paramètre report_date pour rejouer une journée (démo)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0" rIns="0" tIns="0" bIns="0">
            <a:spAutoFit/>
          </a:bodyPr>
          <a:lstStyle/>
          <a:p>
            <a:pPr algn="l"/>
            <a:r>
              <a:rPr sz="3200" b="1" i="0">
                <a:solidFill>
                  <a:srgbClr val="14213D"/>
                </a:solidFill>
                <a:latin typeface="Cambria"/>
              </a:rPr>
              <a:t>Architecture logique</a:t>
            </a:r>
          </a:p>
        </p:txBody>
      </p:sp>
      <p:sp>
        <p:nvSpPr>
          <p:cNvPr id="3" name="Rounded Rectangle 2"/>
          <p:cNvSpPr/>
          <p:nvPr/>
        </p:nvSpPr>
        <p:spPr>
          <a:xfrm>
            <a:off x="2651760" y="1097280"/>
            <a:ext cx="9189720" cy="4846320"/>
          </a:xfrm>
          <a:prstGeom prst="roundRect">
            <a:avLst>
              <a:gd name="adj" fmla="val 4000"/>
            </a:avLst>
          </a:prstGeom>
          <a:solidFill>
            <a:srgbClr val="F3F4F8"/>
          </a:solidFill>
          <a:ln w="9525">
            <a:solidFill>
              <a:srgbClr val="D9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788920" y="1143000"/>
            <a:ext cx="8915400" cy="320040"/>
          </a:xfrm>
          <a:prstGeom prst="rect">
            <a:avLst/>
          </a:prstGeom>
          <a:noFill/>
        </p:spPr>
        <p:txBody>
          <a:bodyPr wrap="square" anchor="t" lIns="0" rIns="0" tIns="0" bIns="0">
            <a:spAutoFit/>
          </a:bodyPr>
          <a:lstStyle/>
          <a:p>
            <a:pPr algn="l"/>
            <a:r>
              <a:rPr sz="1050" b="1" i="0">
                <a:solidFill>
                  <a:srgbClr val="14213D"/>
                </a:solidFill>
                <a:latin typeface="Calibri"/>
              </a:rPr>
              <a:t>Docker Compose</a:t>
            </a:r>
          </a:p>
        </p:txBody>
      </p:sp>
      <p:sp>
        <p:nvSpPr>
          <p:cNvPr id="5" name="Rounded Rectangle 4"/>
          <p:cNvSpPr/>
          <p:nvPr/>
        </p:nvSpPr>
        <p:spPr>
          <a:xfrm>
            <a:off x="548640" y="1417320"/>
            <a:ext cx="1965960" cy="105156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417320"/>
            <a:ext cx="1965960" cy="1051560"/>
          </a:xfrm>
          <a:prstGeom prst="rect">
            <a:avLst/>
          </a:prstGeom>
          <a:noFill/>
        </p:spPr>
        <p:txBody>
          <a:bodyPr wrap="square" anchor="ctr" lIns="73152" rIns="73152" tIns="36576" bIns="36576">
            <a:spAutoFit/>
          </a:bodyPr>
          <a:lstStyle/>
          <a:p>
            <a:pPr algn="ctr"/>
            <a:r>
              <a:rPr sz="1200" b="1">
                <a:solidFill>
                  <a:srgbClr val="1F242B"/>
                </a:solidFill>
                <a:latin typeface="Calibri"/>
              </a:rPr>
              <a:t>API temps réel</a:t>
            </a:r>
          </a:p>
          <a:p>
            <a:pPr algn="ctr"/>
            <a:r>
              <a:rPr sz="1100" b="0">
                <a:solidFill>
                  <a:srgbClr val="1F242B"/>
                </a:solidFill>
                <a:latin typeface="Calibri"/>
              </a:rPr>
              <a:t>HF Space</a:t>
            </a:r>
          </a:p>
          <a:p>
            <a:pPr algn="ctr"/>
            <a:r>
              <a:rPr sz="1100" b="0">
                <a:solidFill>
                  <a:srgbClr val="1F242B"/>
                </a:solidFill>
                <a:latin typeface="Calibri"/>
              </a:rPr>
              <a:t>1 transaction / minute</a:t>
            </a:r>
          </a:p>
        </p:txBody>
      </p:sp>
      <p:sp>
        <p:nvSpPr>
          <p:cNvPr id="7" name="Can 6"/>
          <p:cNvSpPr/>
          <p:nvPr/>
        </p:nvSpPr>
        <p:spPr>
          <a:xfrm>
            <a:off x="548640" y="4709160"/>
            <a:ext cx="1965960" cy="1051560"/>
          </a:xfrm>
          <a:prstGeom prst="can">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4709160"/>
            <a:ext cx="1965960" cy="1051560"/>
          </a:xfrm>
          <a:prstGeom prst="rect">
            <a:avLst/>
          </a:prstGeom>
          <a:noFill/>
        </p:spPr>
        <p:txBody>
          <a:bodyPr wrap="square" anchor="ctr" lIns="73152" rIns="73152" tIns="36576" bIns="36576">
            <a:spAutoFit/>
          </a:bodyPr>
          <a:lstStyle/>
          <a:p>
            <a:pPr algn="ctr"/>
            <a:r>
              <a:rPr sz="1200" b="1">
                <a:solidFill>
                  <a:srgbClr val="1F242B"/>
                </a:solidFill>
                <a:latin typeface="Calibri"/>
              </a:rPr>
              <a:t>fraudTest.csv</a:t>
            </a:r>
          </a:p>
          <a:p>
            <a:pPr algn="ctr"/>
            <a:r>
              <a:rPr sz="1100" b="0">
                <a:solidFill>
                  <a:srgbClr val="1F242B"/>
                </a:solidFill>
                <a:latin typeface="Calibri"/>
              </a:rPr>
              <a:t>555 719 transactions</a:t>
            </a:r>
          </a:p>
          <a:p>
            <a:pPr algn="ctr"/>
            <a:r>
              <a:rPr sz="1100" b="0">
                <a:solidFill>
                  <a:srgbClr val="1F242B"/>
                </a:solidFill>
                <a:latin typeface="Calibri"/>
              </a:rPr>
              <a:t>0,39 % de fraudes</a:t>
            </a:r>
          </a:p>
        </p:txBody>
      </p:sp>
      <p:sp>
        <p:nvSpPr>
          <p:cNvPr id="9" name="Rounded Rectangle 8"/>
          <p:cNvSpPr/>
          <p:nvPr/>
        </p:nvSpPr>
        <p:spPr>
          <a:xfrm>
            <a:off x="2834640" y="4709160"/>
            <a:ext cx="1965960" cy="105156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834640" y="4709160"/>
            <a:ext cx="1965960" cy="1051560"/>
          </a:xfrm>
          <a:prstGeom prst="rect">
            <a:avLst/>
          </a:prstGeom>
          <a:noFill/>
        </p:spPr>
        <p:txBody>
          <a:bodyPr wrap="square" anchor="ctr" lIns="73152" rIns="73152" tIns="36576" bIns="36576">
            <a:spAutoFit/>
          </a:bodyPr>
          <a:lstStyle/>
          <a:p>
            <a:pPr algn="ctr"/>
            <a:r>
              <a:rPr sz="1200" b="1">
                <a:solidFill>
                  <a:srgbClr val="1F242B"/>
                </a:solidFill>
                <a:latin typeface="Calibri"/>
              </a:rPr>
              <a:t>Entraînement</a:t>
            </a:r>
          </a:p>
          <a:p>
            <a:pPr algn="ctr"/>
            <a:r>
              <a:rPr sz="1100" b="0">
                <a:solidFill>
                  <a:srgbClr val="1F242B"/>
                </a:solidFill>
                <a:latin typeface="Calibri"/>
              </a:rPr>
              <a:t>training/train.py</a:t>
            </a:r>
          </a:p>
          <a:p>
            <a:pPr algn="ctr"/>
            <a:r>
              <a:rPr sz="1100" b="0">
                <a:solidFill>
                  <a:srgbClr val="1F242B"/>
                </a:solidFill>
                <a:latin typeface="Calibri"/>
              </a:rPr>
              <a:t>split temporel · LR / RF / LightGBM</a:t>
            </a:r>
          </a:p>
        </p:txBody>
      </p:sp>
      <p:sp>
        <p:nvSpPr>
          <p:cNvPr id="11" name="Rounded Rectangle 10"/>
          <p:cNvSpPr/>
          <p:nvPr/>
        </p:nvSpPr>
        <p:spPr>
          <a:xfrm>
            <a:off x="5120640" y="4709160"/>
            <a:ext cx="1965960" cy="105156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120640" y="4709160"/>
            <a:ext cx="1965960" cy="1051560"/>
          </a:xfrm>
          <a:prstGeom prst="rect">
            <a:avLst/>
          </a:prstGeom>
          <a:noFill/>
        </p:spPr>
        <p:txBody>
          <a:bodyPr wrap="square" anchor="ctr" lIns="73152" rIns="73152" tIns="36576" bIns="36576">
            <a:spAutoFit/>
          </a:bodyPr>
          <a:lstStyle/>
          <a:p>
            <a:pPr algn="ctr"/>
            <a:r>
              <a:rPr sz="1200" b="1">
                <a:solidFill>
                  <a:srgbClr val="1F242B"/>
                </a:solidFill>
                <a:latin typeface="Calibri"/>
              </a:rPr>
              <a:t>MLflow 3</a:t>
            </a:r>
          </a:p>
          <a:p>
            <a:pPr algn="ctr"/>
            <a:r>
              <a:rPr sz="1100" b="0">
                <a:solidFill>
                  <a:srgbClr val="1F242B"/>
                </a:solidFill>
                <a:latin typeface="Calibri"/>
              </a:rPr>
              <a:t>tracking + registry</a:t>
            </a:r>
          </a:p>
          <a:p>
            <a:pPr algn="ctr"/>
            <a:r>
              <a:rPr sz="1100" b="0">
                <a:solidFill>
                  <a:srgbClr val="1F242B"/>
                </a:solidFill>
                <a:latin typeface="Calibri"/>
              </a:rPr>
              <a:t>alias production</a:t>
            </a:r>
          </a:p>
        </p:txBody>
      </p:sp>
      <p:sp>
        <p:nvSpPr>
          <p:cNvPr id="13" name="Rounded Rectangle 12"/>
          <p:cNvSpPr/>
          <p:nvPr/>
        </p:nvSpPr>
        <p:spPr>
          <a:xfrm>
            <a:off x="5120640" y="1417320"/>
            <a:ext cx="1965960" cy="1051560"/>
          </a:xfrm>
          <a:prstGeom prst="roundRect">
            <a:avLst>
              <a:gd name="adj" fmla="val 12000"/>
            </a:avLst>
          </a:prstGeom>
          <a:solidFill>
            <a:srgbClr val="1F335C"/>
          </a:solidFill>
          <a:ln w="9525">
            <a:solidFill>
              <a:srgbClr val="1F33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20640" y="1417320"/>
            <a:ext cx="1965960" cy="1051560"/>
          </a:xfrm>
          <a:prstGeom prst="rect">
            <a:avLst/>
          </a:prstGeom>
          <a:noFill/>
        </p:spPr>
        <p:txBody>
          <a:bodyPr wrap="square" anchor="ctr" lIns="73152" rIns="73152" tIns="36576" bIns="36576">
            <a:spAutoFit/>
          </a:bodyPr>
          <a:lstStyle/>
          <a:p>
            <a:pPr algn="ctr"/>
            <a:r>
              <a:rPr sz="1100" b="1">
                <a:solidFill>
                  <a:srgbClr val="FFFFFF"/>
                </a:solidFill>
                <a:latin typeface="Calibri"/>
              </a:rPr>
              <a:t>DAG fraud_realtime</a:t>
            </a:r>
          </a:p>
          <a:p>
            <a:pPr algn="ctr"/>
            <a:r>
              <a:rPr sz="1000" b="0">
                <a:solidFill>
                  <a:srgbClr val="FFFFFF"/>
                </a:solidFill>
                <a:latin typeface="Calibri"/>
              </a:rPr>
              <a:t>chaque minute</a:t>
            </a:r>
          </a:p>
          <a:p>
            <a:pPr algn="ctr"/>
            <a:r>
              <a:rPr sz="1000" b="0">
                <a:solidFill>
                  <a:srgbClr val="FFFFFF"/>
                </a:solidFill>
                <a:latin typeface="Calibri"/>
              </a:rPr>
              <a:t>extract → transform → predict</a:t>
            </a:r>
          </a:p>
          <a:p>
            <a:pPr algn="ctr"/>
            <a:r>
              <a:rPr sz="1000" b="0">
                <a:solidFill>
                  <a:srgbClr val="FFFFFF"/>
                </a:solidFill>
                <a:latin typeface="Calibri"/>
              </a:rPr>
              <a:t>→ load → branch</a:t>
            </a:r>
          </a:p>
        </p:txBody>
      </p:sp>
      <p:sp>
        <p:nvSpPr>
          <p:cNvPr id="15" name="Can 14"/>
          <p:cNvSpPr/>
          <p:nvPr/>
        </p:nvSpPr>
        <p:spPr>
          <a:xfrm>
            <a:off x="7406640" y="1417320"/>
            <a:ext cx="1965960" cy="1051560"/>
          </a:xfrm>
          <a:prstGeom prst="can">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406640" y="1417320"/>
            <a:ext cx="1965960" cy="1051560"/>
          </a:xfrm>
          <a:prstGeom prst="rect">
            <a:avLst/>
          </a:prstGeom>
          <a:noFill/>
        </p:spPr>
        <p:txBody>
          <a:bodyPr wrap="square" anchor="ctr" lIns="73152" rIns="73152" tIns="36576" bIns="36576">
            <a:spAutoFit/>
          </a:bodyPr>
          <a:lstStyle/>
          <a:p>
            <a:pPr algn="ctr"/>
            <a:r>
              <a:rPr sz="1100" b="1">
                <a:solidFill>
                  <a:srgbClr val="1F242B"/>
                </a:solidFill>
                <a:latin typeface="Calibri"/>
              </a:rPr>
              <a:t>PostgreSQL 16</a:t>
            </a:r>
          </a:p>
          <a:p>
            <a:pPr algn="ctr"/>
            <a:r>
              <a:rPr sz="1000" b="0">
                <a:solidFill>
                  <a:srgbClr val="1F242B"/>
                </a:solidFill>
                <a:latin typeface="Calibri"/>
              </a:rPr>
              <a:t>transactions · fraud_alerts</a:t>
            </a:r>
          </a:p>
          <a:p>
            <a:pPr algn="ctr"/>
            <a:r>
              <a:rPr sz="1000" b="0">
                <a:solidFill>
                  <a:srgbClr val="1F242B"/>
                </a:solidFill>
                <a:latin typeface="Calibri"/>
              </a:rPr>
              <a:t>daily_reports · dédup PK</a:t>
            </a:r>
          </a:p>
        </p:txBody>
      </p:sp>
      <p:sp>
        <p:nvSpPr>
          <p:cNvPr id="17" name="Rounded Rectangle 16"/>
          <p:cNvSpPr/>
          <p:nvPr/>
        </p:nvSpPr>
        <p:spPr>
          <a:xfrm>
            <a:off x="7406640" y="4709160"/>
            <a:ext cx="1965960" cy="1051560"/>
          </a:xfrm>
          <a:prstGeom prst="roundRect">
            <a:avLst>
              <a:gd name="adj" fmla="val 12000"/>
            </a:avLst>
          </a:prstGeom>
          <a:solidFill>
            <a:srgbClr val="1F335C"/>
          </a:solidFill>
          <a:ln w="9525">
            <a:solidFill>
              <a:srgbClr val="1F33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06640" y="4709160"/>
            <a:ext cx="1965960" cy="1051560"/>
          </a:xfrm>
          <a:prstGeom prst="rect">
            <a:avLst/>
          </a:prstGeom>
          <a:noFill/>
        </p:spPr>
        <p:txBody>
          <a:bodyPr wrap="square" anchor="ctr" lIns="73152" rIns="73152" tIns="36576" bIns="36576">
            <a:spAutoFit/>
          </a:bodyPr>
          <a:lstStyle/>
          <a:p>
            <a:pPr algn="ctr"/>
            <a:r>
              <a:rPr sz="1100" b="1">
                <a:solidFill>
                  <a:srgbClr val="FFFFFF"/>
                </a:solidFill>
                <a:latin typeface="Calibri"/>
              </a:rPr>
              <a:t>DAG fraud_daily_report</a:t>
            </a:r>
          </a:p>
          <a:p>
            <a:pPr algn="ctr"/>
            <a:r>
              <a:rPr sz="1000" b="0">
                <a:solidFill>
                  <a:srgbClr val="FFFFFF"/>
                </a:solidFill>
                <a:latin typeface="Calibri"/>
              </a:rPr>
              <a:t>6h Europe/Paris</a:t>
            </a:r>
          </a:p>
          <a:p>
            <a:pPr algn="ctr"/>
            <a:r>
              <a:rPr sz="1000" b="0">
                <a:solidFill>
                  <a:srgbClr val="FFFFFF"/>
                </a:solidFill>
                <a:latin typeface="Calibri"/>
              </a:rPr>
              <a:t>aggregate → export_csv</a:t>
            </a:r>
          </a:p>
          <a:p>
            <a:pPr algn="ctr"/>
            <a:r>
              <a:rPr sz="1000" b="0">
                <a:solidFill>
                  <a:srgbClr val="FFFFFF"/>
                </a:solidFill>
                <a:latin typeface="Calibri"/>
              </a:rPr>
              <a:t>→ store → notify</a:t>
            </a:r>
          </a:p>
        </p:txBody>
      </p:sp>
      <p:sp>
        <p:nvSpPr>
          <p:cNvPr id="19" name="Rounded Rectangle 18"/>
          <p:cNvSpPr/>
          <p:nvPr/>
        </p:nvSpPr>
        <p:spPr>
          <a:xfrm>
            <a:off x="9692640" y="1417320"/>
            <a:ext cx="1965960" cy="105156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1417320"/>
            <a:ext cx="1965960" cy="1051560"/>
          </a:xfrm>
          <a:prstGeom prst="rect">
            <a:avLst/>
          </a:prstGeom>
          <a:noFill/>
        </p:spPr>
        <p:txBody>
          <a:bodyPr wrap="square" anchor="ctr" lIns="73152" rIns="73152" tIns="36576" bIns="36576">
            <a:spAutoFit/>
          </a:bodyPr>
          <a:lstStyle/>
          <a:p>
            <a:pPr algn="ctr"/>
            <a:r>
              <a:rPr sz="1200" b="1">
                <a:solidFill>
                  <a:srgbClr val="1F242B"/>
                </a:solidFill>
                <a:latin typeface="Calibri"/>
              </a:rPr>
              <a:t>Dashboard Streamlit</a:t>
            </a:r>
          </a:p>
          <a:p>
            <a:pPr algn="ctr"/>
            <a:r>
              <a:rPr sz="1100" b="0">
                <a:solidFill>
                  <a:srgbClr val="1F242B"/>
                </a:solidFill>
                <a:latin typeface="Calibri"/>
              </a:rPr>
              <a:t>:8501</a:t>
            </a:r>
          </a:p>
        </p:txBody>
      </p:sp>
      <p:sp>
        <p:nvSpPr>
          <p:cNvPr id="21" name="Rounded Rectangle 20"/>
          <p:cNvSpPr/>
          <p:nvPr/>
        </p:nvSpPr>
        <p:spPr>
          <a:xfrm>
            <a:off x="9692640" y="3063240"/>
            <a:ext cx="1965960" cy="1051560"/>
          </a:xfrm>
          <a:prstGeom prst="roundRect">
            <a:avLst>
              <a:gd name="adj" fmla="val 12000"/>
            </a:avLst>
          </a:prstGeom>
          <a:solidFill>
            <a:srgbClr val="FCA311"/>
          </a:solidFill>
          <a:ln w="952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692640" y="3063240"/>
            <a:ext cx="1965960" cy="1051560"/>
          </a:xfrm>
          <a:prstGeom prst="rect">
            <a:avLst/>
          </a:prstGeom>
          <a:noFill/>
        </p:spPr>
        <p:txBody>
          <a:bodyPr wrap="square" anchor="ctr" lIns="73152" rIns="73152" tIns="36576" bIns="36576">
            <a:spAutoFit/>
          </a:bodyPr>
          <a:lstStyle/>
          <a:p>
            <a:pPr algn="ctr"/>
            <a:r>
              <a:rPr sz="1200" b="1">
                <a:solidFill>
                  <a:srgbClr val="14213D"/>
                </a:solidFill>
                <a:latin typeface="Calibri"/>
              </a:rPr>
              <a:t>Sorties</a:t>
            </a:r>
          </a:p>
          <a:p>
            <a:pPr algn="ctr"/>
            <a:r>
              <a:rPr sz="1100" b="0">
                <a:solidFill>
                  <a:srgbClr val="14213D"/>
                </a:solidFill>
                <a:latin typeface="Calibri"/>
              </a:rPr>
              <a:t>Discord : alerte fraude,</a:t>
            </a:r>
          </a:p>
          <a:p>
            <a:pPr algn="ctr"/>
            <a:r>
              <a:rPr sz="1100" b="0">
                <a:solidFill>
                  <a:srgbClr val="14213D"/>
                </a:solidFill>
                <a:latin typeface="Calibri"/>
              </a:rPr>
              <a:t>rapport quotidien</a:t>
            </a:r>
          </a:p>
          <a:p>
            <a:pPr algn="ctr"/>
            <a:r>
              <a:rPr sz="1100" b="0">
                <a:solidFill>
                  <a:srgbClr val="14213D"/>
                </a:solidFill>
                <a:latin typeface="Calibri"/>
              </a:rPr>
              <a:t>CSV quotidien (S3 en prod)</a:t>
            </a:r>
          </a:p>
        </p:txBody>
      </p:sp>
      <p:cxnSp>
        <p:nvCxnSpPr>
          <p:cNvPr id="23" name="Connector 22"/>
          <p:cNvCxnSpPr/>
          <p:nvPr/>
        </p:nvCxnSpPr>
        <p:spPr>
          <a:xfrm>
            <a:off x="2514600" y="1943100"/>
            <a:ext cx="26060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3177540" y="1815084"/>
            <a:ext cx="12801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77540" y="1815084"/>
            <a:ext cx="1280160" cy="256032"/>
          </a:xfrm>
          <a:prstGeom prst="rect">
            <a:avLst/>
          </a:prstGeom>
          <a:noFill/>
        </p:spPr>
        <p:txBody>
          <a:bodyPr wrap="square" anchor="ctr" lIns="0" rIns="0" tIns="0" bIns="0">
            <a:spAutoFit/>
          </a:bodyPr>
          <a:lstStyle/>
          <a:p>
            <a:pPr algn="ctr"/>
            <a:r>
              <a:rPr sz="950" b="0" i="1">
                <a:solidFill>
                  <a:srgbClr val="6B7280"/>
                </a:solidFill>
                <a:latin typeface="Calibri"/>
              </a:rPr>
              <a:t>GET chaque minute</a:t>
            </a:r>
          </a:p>
        </p:txBody>
      </p:sp>
      <p:cxnSp>
        <p:nvCxnSpPr>
          <p:cNvPr id="26" name="Connector 25"/>
          <p:cNvCxnSpPr/>
          <p:nvPr/>
        </p:nvCxnSpPr>
        <p:spPr>
          <a:xfrm>
            <a:off x="2514600" y="5234940"/>
            <a:ext cx="3200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800600" y="5234940"/>
            <a:ext cx="3200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434840" y="5417820"/>
            <a:ext cx="10515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434840" y="5417820"/>
            <a:ext cx="1051560" cy="256032"/>
          </a:xfrm>
          <a:prstGeom prst="rect">
            <a:avLst/>
          </a:prstGeom>
          <a:noFill/>
        </p:spPr>
        <p:txBody>
          <a:bodyPr wrap="square" anchor="ctr" lIns="0" rIns="0" tIns="0" bIns="0">
            <a:spAutoFit/>
          </a:bodyPr>
          <a:lstStyle/>
          <a:p>
            <a:pPr algn="ctr"/>
            <a:r>
              <a:rPr sz="950" b="0" i="1">
                <a:solidFill>
                  <a:srgbClr val="6B7280"/>
                </a:solidFill>
                <a:latin typeface="Calibri"/>
              </a:rPr>
              <a:t>log_model + alias</a:t>
            </a:r>
          </a:p>
        </p:txBody>
      </p:sp>
      <p:cxnSp>
        <p:nvCxnSpPr>
          <p:cNvPr id="30" name="Connector 29"/>
          <p:cNvCxnSpPr/>
          <p:nvPr/>
        </p:nvCxnSpPr>
        <p:spPr>
          <a:xfrm flipV="1">
            <a:off x="6103620" y="2468880"/>
            <a:ext cx="0" cy="224028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6195060" y="3863340"/>
            <a:ext cx="8229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195060" y="3863340"/>
            <a:ext cx="822960" cy="256032"/>
          </a:xfrm>
          <a:prstGeom prst="rect">
            <a:avLst/>
          </a:prstGeom>
          <a:noFill/>
        </p:spPr>
        <p:txBody>
          <a:bodyPr wrap="square" anchor="ctr" lIns="0" rIns="0" tIns="0" bIns="0">
            <a:spAutoFit/>
          </a:bodyPr>
          <a:lstStyle/>
          <a:p>
            <a:pPr algn="l"/>
            <a:r>
              <a:rPr sz="950" b="0" i="1">
                <a:solidFill>
                  <a:srgbClr val="6B7280"/>
                </a:solidFill>
                <a:latin typeface="Calibri"/>
              </a:rPr>
              <a:t>load_model</a:t>
            </a:r>
          </a:p>
        </p:txBody>
      </p:sp>
      <p:cxnSp>
        <p:nvCxnSpPr>
          <p:cNvPr id="33" name="Connector 32"/>
          <p:cNvCxnSpPr/>
          <p:nvPr/>
        </p:nvCxnSpPr>
        <p:spPr>
          <a:xfrm>
            <a:off x="7086600" y="1943100"/>
            <a:ext cx="3200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9372600" y="1943100"/>
            <a:ext cx="3200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389620" y="2468880"/>
            <a:ext cx="0" cy="224028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8481060" y="3863340"/>
            <a:ext cx="8686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81060" y="3863340"/>
            <a:ext cx="868680" cy="256032"/>
          </a:xfrm>
          <a:prstGeom prst="rect">
            <a:avLst/>
          </a:prstGeom>
          <a:noFill/>
        </p:spPr>
        <p:txBody>
          <a:bodyPr wrap="square" anchor="ctr" lIns="0" rIns="0" tIns="0" bIns="0">
            <a:spAutoFit/>
          </a:bodyPr>
          <a:lstStyle/>
          <a:p>
            <a:pPr algn="l"/>
            <a:r>
              <a:rPr sz="950" b="0" i="1">
                <a:solidFill>
                  <a:srgbClr val="6B7280"/>
                </a:solidFill>
                <a:latin typeface="Calibri"/>
              </a:rPr>
              <a:t>agrégats J-1</a:t>
            </a:r>
          </a:p>
        </p:txBody>
      </p:sp>
      <p:cxnSp>
        <p:nvCxnSpPr>
          <p:cNvPr id="38" name="Connector 37"/>
          <p:cNvCxnSpPr/>
          <p:nvPr/>
        </p:nvCxnSpPr>
        <p:spPr>
          <a:xfrm>
            <a:off x="5554980" y="2468880"/>
            <a:ext cx="0" cy="1120140"/>
          </a:xfrm>
          <a:prstGeom prst="line">
            <a:avLst/>
          </a:prstGeom>
          <a:ln w="19050">
            <a:solidFill>
              <a:srgbClr val="E74C3C"/>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5554980" y="3589020"/>
            <a:ext cx="4137660" cy="0"/>
          </a:xfrm>
          <a:prstGeom prst="line">
            <a:avLst/>
          </a:prstGeom>
          <a:ln w="19050">
            <a:solidFill>
              <a:srgbClr val="E74C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646420" y="3296412"/>
            <a:ext cx="17373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646420" y="3296412"/>
            <a:ext cx="1737360" cy="256032"/>
          </a:xfrm>
          <a:prstGeom prst="rect">
            <a:avLst/>
          </a:prstGeom>
          <a:noFill/>
        </p:spPr>
        <p:txBody>
          <a:bodyPr wrap="square" anchor="ctr" lIns="0" rIns="0" tIns="0" bIns="0">
            <a:spAutoFit/>
          </a:bodyPr>
          <a:lstStyle/>
          <a:p>
            <a:pPr algn="l"/>
            <a:r>
              <a:rPr sz="950" b="0" i="1">
                <a:solidFill>
                  <a:srgbClr val="E74C3C"/>
                </a:solidFill>
                <a:latin typeface="Calibri"/>
              </a:rPr>
              <a:t>alerte si is_fraud_pred = 1</a:t>
            </a:r>
          </a:p>
        </p:txBody>
      </p:sp>
      <p:cxnSp>
        <p:nvCxnSpPr>
          <p:cNvPr id="42" name="Connector 41"/>
          <p:cNvCxnSpPr/>
          <p:nvPr/>
        </p:nvCxnSpPr>
        <p:spPr>
          <a:xfrm flipV="1">
            <a:off x="8938260" y="4389120"/>
            <a:ext cx="0" cy="320040"/>
          </a:xfrm>
          <a:prstGeom prst="line">
            <a:avLst/>
          </a:prstGeom>
          <a:ln w="19050">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8938260" y="4389120"/>
            <a:ext cx="1737360" cy="0"/>
          </a:xfrm>
          <a:prstGeom prst="line">
            <a:avLst/>
          </a:prstGeom>
          <a:ln w="19050">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V="1">
            <a:off x="10675620" y="4114800"/>
            <a:ext cx="0" cy="274320"/>
          </a:xfrm>
          <a:prstGeom prst="line">
            <a:avLst/>
          </a:prstGeom>
          <a:ln w="190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ectangle 44"/>
          <p:cNvSpPr/>
          <p:nvPr/>
        </p:nvSpPr>
        <p:spPr>
          <a:xfrm>
            <a:off x="9029700" y="4434840"/>
            <a:ext cx="96012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29700" y="4434840"/>
            <a:ext cx="960120" cy="256032"/>
          </a:xfrm>
          <a:prstGeom prst="rect">
            <a:avLst/>
          </a:prstGeom>
          <a:noFill/>
        </p:spPr>
        <p:txBody>
          <a:bodyPr wrap="square" anchor="ctr" lIns="0" rIns="0" tIns="0" bIns="0">
            <a:spAutoFit/>
          </a:bodyPr>
          <a:lstStyle/>
          <a:p>
            <a:pPr algn="l"/>
            <a:r>
              <a:rPr sz="950" b="0" i="1">
                <a:solidFill>
                  <a:srgbClr val="B36B00"/>
                </a:solidFill>
                <a:latin typeface="Calibri"/>
              </a:rPr>
              <a:t>rapport + CSV</a:t>
            </a:r>
          </a:p>
        </p:txBody>
      </p:sp>
      <p:sp>
        <p:nvSpPr>
          <p:cNvPr id="47" name="TextBox 46"/>
          <p:cNvSpPr txBox="1"/>
          <p:nvPr/>
        </p:nvSpPr>
        <p:spPr>
          <a:xfrm>
            <a:off x="548640" y="6035040"/>
            <a:ext cx="11064240" cy="548640"/>
          </a:xfrm>
          <a:prstGeom prst="rect">
            <a:avLst/>
          </a:prstGeom>
          <a:noFill/>
        </p:spPr>
        <p:txBody>
          <a:bodyPr wrap="square" anchor="t" lIns="0" rIns="0" tIns="0" bIns="0">
            <a:spAutoFit/>
          </a:bodyPr>
          <a:lstStyle/>
          <a:p>
            <a:pPr algn="l"/>
            <a:r>
              <a:rPr sz="1150" b="0" i="1">
                <a:solidFill>
                  <a:srgbClr val="6B7280"/>
                </a:solidFill>
                <a:latin typeface="Calibri"/>
              </a:rPr>
              <a:t>Un orchestrateur (Airflow), un entrepôt (PostgreSQL), un registre (MLflow) : le modèle est un artefact versionné ; le preprocessing (FeatureBuilder) est dans le pipeline sklearn loggé — une ligne brute de l'API traverse exactement les mêmes transformations qu'une ligne du CSV.</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0" rIns="0" tIns="0" bIns="0">
            <a:spAutoFit/>
          </a:bodyPr>
          <a:lstStyle/>
          <a:p>
            <a:pPr algn="l"/>
            <a:r>
              <a:rPr sz="3200" b="1" i="0">
                <a:solidFill>
                  <a:srgbClr val="14213D"/>
                </a:solidFill>
                <a:latin typeface="Cambria"/>
              </a:rPr>
              <a:t>Déploiement en production — AWS eu-north-1 (Terraform)</a:t>
            </a:r>
          </a:p>
        </p:txBody>
      </p:sp>
      <p:sp>
        <p:nvSpPr>
          <p:cNvPr id="3" name="Rounded Rectangle 2"/>
          <p:cNvSpPr/>
          <p:nvPr/>
        </p:nvSpPr>
        <p:spPr>
          <a:xfrm>
            <a:off x="548640" y="1371600"/>
            <a:ext cx="2103120" cy="91440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371600"/>
            <a:ext cx="2103120" cy="914400"/>
          </a:xfrm>
          <a:prstGeom prst="rect">
            <a:avLst/>
          </a:prstGeom>
          <a:noFill/>
        </p:spPr>
        <p:txBody>
          <a:bodyPr wrap="square" anchor="ctr" lIns="73152" rIns="73152" tIns="36576" bIns="36576">
            <a:spAutoFit/>
          </a:bodyPr>
          <a:lstStyle/>
          <a:p>
            <a:pPr algn="ctr"/>
            <a:r>
              <a:rPr sz="1200" b="1">
                <a:solidFill>
                  <a:srgbClr val="1F242B"/>
                </a:solidFill>
                <a:latin typeface="Calibri"/>
              </a:rPr>
              <a:t>Poste opérateur</a:t>
            </a:r>
          </a:p>
          <a:p>
            <a:pPr algn="ctr"/>
            <a:r>
              <a:rPr sz="1100" b="0">
                <a:solidFill>
                  <a:srgbClr val="1F242B"/>
                </a:solidFill>
                <a:latin typeface="Calibri"/>
              </a:rPr>
              <a:t>IP unique autorisée</a:t>
            </a:r>
          </a:p>
          <a:p>
            <a:pPr algn="ctr"/>
            <a:r>
              <a:rPr sz="1100" b="0">
                <a:solidFill>
                  <a:srgbClr val="1F242B"/>
                </a:solidFill>
                <a:latin typeface="Calibri"/>
              </a:rPr>
              <a:t>terraform apply · UIs 8080 / 5000 / 8501</a:t>
            </a:r>
          </a:p>
        </p:txBody>
      </p:sp>
      <p:sp>
        <p:nvSpPr>
          <p:cNvPr id="5" name="Rounded Rectangle 4"/>
          <p:cNvSpPr/>
          <p:nvPr/>
        </p:nvSpPr>
        <p:spPr>
          <a:xfrm>
            <a:off x="548640" y="2651760"/>
            <a:ext cx="2103120" cy="73152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2651760"/>
            <a:ext cx="2103120" cy="731520"/>
          </a:xfrm>
          <a:prstGeom prst="rect">
            <a:avLst/>
          </a:prstGeom>
          <a:noFill/>
        </p:spPr>
        <p:txBody>
          <a:bodyPr wrap="square" anchor="ctr" lIns="73152" rIns="73152" tIns="36576" bIns="36576">
            <a:spAutoFit/>
          </a:bodyPr>
          <a:lstStyle/>
          <a:p>
            <a:pPr algn="ctr"/>
            <a:r>
              <a:rPr sz="1200" b="1">
                <a:solidFill>
                  <a:srgbClr val="1F242B"/>
                </a:solidFill>
                <a:latin typeface="Calibri"/>
              </a:rPr>
              <a:t>API temps réel (HF Space)</a:t>
            </a:r>
          </a:p>
          <a:p>
            <a:pPr algn="ctr"/>
            <a:r>
              <a:rPr sz="1100" b="0">
                <a:solidFill>
                  <a:srgbClr val="1F242B"/>
                </a:solidFill>
                <a:latin typeface="Calibri"/>
              </a:rPr>
              <a:t>1 transaction / minute</a:t>
            </a:r>
          </a:p>
        </p:txBody>
      </p:sp>
      <p:sp>
        <p:nvSpPr>
          <p:cNvPr id="7" name="Can 6"/>
          <p:cNvSpPr/>
          <p:nvPr/>
        </p:nvSpPr>
        <p:spPr>
          <a:xfrm>
            <a:off x="548640" y="3749039"/>
            <a:ext cx="2103120" cy="822960"/>
          </a:xfrm>
          <a:prstGeom prst="can">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749039"/>
            <a:ext cx="2103120" cy="822960"/>
          </a:xfrm>
          <a:prstGeom prst="rect">
            <a:avLst/>
          </a:prstGeom>
          <a:noFill/>
        </p:spPr>
        <p:txBody>
          <a:bodyPr wrap="square" anchor="ctr" lIns="73152" rIns="73152" tIns="36576" bIns="36576">
            <a:spAutoFit/>
          </a:bodyPr>
          <a:lstStyle/>
          <a:p>
            <a:pPr algn="ctr"/>
            <a:r>
              <a:rPr sz="1200" b="1">
                <a:solidFill>
                  <a:srgbClr val="1F242B"/>
                </a:solidFill>
                <a:latin typeface="Calibri"/>
              </a:rPr>
              <a:t>GitHub</a:t>
            </a:r>
          </a:p>
          <a:p>
            <a:pPr algn="ctr"/>
            <a:r>
              <a:rPr sz="1100" b="0">
                <a:solidFill>
                  <a:srgbClr val="1F242B"/>
                </a:solidFill>
                <a:latin typeface="Calibri"/>
              </a:rPr>
              <a:t>automatic-fraud-detection</a:t>
            </a:r>
          </a:p>
          <a:p>
            <a:pPr algn="ctr"/>
            <a:r>
              <a:rPr sz="1100" b="0">
                <a:solidFill>
                  <a:srgbClr val="1F242B"/>
                </a:solidFill>
                <a:latin typeface="Calibri"/>
              </a:rPr>
              <a:t>cloné au boot (user_data)</a:t>
            </a:r>
          </a:p>
        </p:txBody>
      </p:sp>
      <p:sp>
        <p:nvSpPr>
          <p:cNvPr id="9" name="Rounded Rectangle 8"/>
          <p:cNvSpPr/>
          <p:nvPr/>
        </p:nvSpPr>
        <p:spPr>
          <a:xfrm>
            <a:off x="548640" y="5029200"/>
            <a:ext cx="2103120" cy="731520"/>
          </a:xfrm>
          <a:prstGeom prst="roundRect">
            <a:avLst>
              <a:gd name="adj" fmla="val 12000"/>
            </a:avLst>
          </a:prstGeom>
          <a:solidFill>
            <a:srgbClr val="FCA311"/>
          </a:solidFill>
          <a:ln w="9525">
            <a:solidFill>
              <a:srgbClr val="FCA3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5029200"/>
            <a:ext cx="2103120" cy="731520"/>
          </a:xfrm>
          <a:prstGeom prst="rect">
            <a:avLst/>
          </a:prstGeom>
          <a:noFill/>
        </p:spPr>
        <p:txBody>
          <a:bodyPr wrap="square" anchor="ctr" lIns="73152" rIns="73152" tIns="36576" bIns="36576">
            <a:spAutoFit/>
          </a:bodyPr>
          <a:lstStyle/>
          <a:p>
            <a:pPr algn="ctr"/>
            <a:r>
              <a:rPr sz="1200" b="1">
                <a:solidFill>
                  <a:srgbClr val="14213D"/>
                </a:solidFill>
                <a:latin typeface="Calibri"/>
              </a:rPr>
              <a:t>Discord</a:t>
            </a:r>
          </a:p>
          <a:p>
            <a:pPr algn="ctr"/>
            <a:r>
              <a:rPr sz="1100" b="0">
                <a:solidFill>
                  <a:srgbClr val="14213D"/>
                </a:solidFill>
                <a:latin typeface="Calibri"/>
              </a:rPr>
              <a:t>alerte fraude · rapport</a:t>
            </a:r>
          </a:p>
        </p:txBody>
      </p:sp>
      <p:sp>
        <p:nvSpPr>
          <p:cNvPr id="11" name="Rounded Rectangle 10"/>
          <p:cNvSpPr/>
          <p:nvPr/>
        </p:nvSpPr>
        <p:spPr>
          <a:xfrm>
            <a:off x="3108960" y="1325880"/>
            <a:ext cx="8549640" cy="5074920"/>
          </a:xfrm>
          <a:prstGeom prst="roundRect">
            <a:avLst>
              <a:gd name="adj" fmla="val 4000"/>
            </a:avLst>
          </a:prstGeom>
          <a:solidFill>
            <a:srgbClr val="F3F4F8"/>
          </a:solidFill>
          <a:ln w="9525">
            <a:solidFill>
              <a:srgbClr val="D9DD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246120" y="1371600"/>
            <a:ext cx="8275320" cy="320040"/>
          </a:xfrm>
          <a:prstGeom prst="rect">
            <a:avLst/>
          </a:prstGeom>
          <a:noFill/>
        </p:spPr>
        <p:txBody>
          <a:bodyPr wrap="square" anchor="t" lIns="0" rIns="0" tIns="0" bIns="0">
            <a:spAutoFit/>
          </a:bodyPr>
          <a:lstStyle/>
          <a:p>
            <a:pPr algn="l"/>
            <a:r>
              <a:rPr sz="1050" b="1" i="0">
                <a:solidFill>
                  <a:srgbClr val="14213D"/>
                </a:solidFill>
                <a:latin typeface="Calibri"/>
              </a:rPr>
              <a:t>AWS eu-north-1 · VPC par défaut · 19 ressources Terraform · security group = IP opérateur</a:t>
            </a:r>
          </a:p>
        </p:txBody>
      </p:sp>
      <p:sp>
        <p:nvSpPr>
          <p:cNvPr id="13" name="Rounded Rectangle 12"/>
          <p:cNvSpPr/>
          <p:nvPr/>
        </p:nvSpPr>
        <p:spPr>
          <a:xfrm>
            <a:off x="3383280" y="1783080"/>
            <a:ext cx="5577840" cy="4389120"/>
          </a:xfrm>
          <a:prstGeom prst="roundRect">
            <a:avLst>
              <a:gd name="adj" fmla="val 4000"/>
            </a:avLst>
          </a:prstGeom>
          <a:solidFill>
            <a:srgbClr val="FFFFFF"/>
          </a:solidFill>
          <a:ln w="9525">
            <a:solidFill>
              <a:srgbClr val="1F33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0440" y="1828800"/>
            <a:ext cx="5303520" cy="320040"/>
          </a:xfrm>
          <a:prstGeom prst="rect">
            <a:avLst/>
          </a:prstGeom>
          <a:noFill/>
        </p:spPr>
        <p:txBody>
          <a:bodyPr wrap="square" anchor="t" lIns="0" rIns="0" tIns="0" bIns="0">
            <a:spAutoFit/>
          </a:bodyPr>
          <a:lstStyle/>
          <a:p>
            <a:pPr algn="l"/>
            <a:r>
              <a:rPr sz="1050" b="1" i="0">
                <a:solidFill>
                  <a:srgbClr val="14213D"/>
                </a:solidFill>
                <a:latin typeface="Calibri"/>
              </a:rPr>
              <a:t>EC2 m7i-flex.large · Ubuntu 24.04 · EBS 30 Go chiffré · docker compose (docker/prod/)</a:t>
            </a:r>
          </a:p>
        </p:txBody>
      </p:sp>
      <p:sp>
        <p:nvSpPr>
          <p:cNvPr id="15" name="Rounded Rectangle 14"/>
          <p:cNvSpPr/>
          <p:nvPr/>
        </p:nvSpPr>
        <p:spPr>
          <a:xfrm>
            <a:off x="3657600" y="2286000"/>
            <a:ext cx="2103120" cy="1325880"/>
          </a:xfrm>
          <a:prstGeom prst="roundRect">
            <a:avLst>
              <a:gd name="adj" fmla="val 12000"/>
            </a:avLst>
          </a:prstGeom>
          <a:solidFill>
            <a:srgbClr val="1F335C"/>
          </a:solidFill>
          <a:ln w="9525">
            <a:solidFill>
              <a:srgbClr val="1F33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0" y="2286000"/>
            <a:ext cx="2103120" cy="1325880"/>
          </a:xfrm>
          <a:prstGeom prst="rect">
            <a:avLst/>
          </a:prstGeom>
          <a:noFill/>
        </p:spPr>
        <p:txBody>
          <a:bodyPr wrap="square" anchor="ctr" lIns="73152" rIns="73152" tIns="36576" bIns="36576">
            <a:spAutoFit/>
          </a:bodyPr>
          <a:lstStyle/>
          <a:p>
            <a:pPr algn="ctr"/>
            <a:r>
              <a:rPr sz="1100" b="1">
                <a:solidFill>
                  <a:srgbClr val="FFFFFF"/>
                </a:solidFill>
                <a:latin typeface="Calibri"/>
              </a:rPr>
              <a:t>Airflow 3</a:t>
            </a:r>
          </a:p>
          <a:p>
            <a:pPr algn="ctr"/>
            <a:r>
              <a:rPr sz="1000" b="0">
                <a:solidFill>
                  <a:srgbClr val="FFFFFF"/>
                </a:solidFill>
                <a:latin typeface="Calibri"/>
              </a:rPr>
              <a:t>api-server · scheduler · dag-processor</a:t>
            </a:r>
          </a:p>
          <a:p>
            <a:pPr algn="ctr"/>
            <a:r>
              <a:rPr sz="1000" b="0">
                <a:solidFill>
                  <a:srgbClr val="FFFFFF"/>
                </a:solidFill>
                <a:latin typeface="Calibri"/>
              </a:rPr>
              <a:t>DAG fraud_realtime</a:t>
            </a:r>
          </a:p>
          <a:p>
            <a:pPr algn="ctr"/>
            <a:r>
              <a:rPr sz="1000" b="0">
                <a:solidFill>
                  <a:srgbClr val="FFFFFF"/>
                </a:solidFill>
                <a:latin typeface="Calibri"/>
              </a:rPr>
              <a:t>DAG fraud_daily_report</a:t>
            </a:r>
          </a:p>
        </p:txBody>
      </p:sp>
      <p:sp>
        <p:nvSpPr>
          <p:cNvPr id="17" name="Rounded Rectangle 16"/>
          <p:cNvSpPr/>
          <p:nvPr/>
        </p:nvSpPr>
        <p:spPr>
          <a:xfrm>
            <a:off x="6537960" y="2286000"/>
            <a:ext cx="2194560" cy="86868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537960" y="2286000"/>
            <a:ext cx="2194560" cy="868680"/>
          </a:xfrm>
          <a:prstGeom prst="rect">
            <a:avLst/>
          </a:prstGeom>
          <a:noFill/>
        </p:spPr>
        <p:txBody>
          <a:bodyPr wrap="square" anchor="ctr" lIns="73152" rIns="73152" tIns="36576" bIns="36576">
            <a:spAutoFit/>
          </a:bodyPr>
          <a:lstStyle/>
          <a:p>
            <a:pPr algn="ctr"/>
            <a:r>
              <a:rPr sz="1200" b="1">
                <a:solidFill>
                  <a:srgbClr val="1F242B"/>
                </a:solidFill>
                <a:latin typeface="Calibri"/>
              </a:rPr>
              <a:t>MLflow 3 server</a:t>
            </a:r>
          </a:p>
          <a:p>
            <a:pPr algn="ctr"/>
            <a:r>
              <a:rPr sz="1100" b="0">
                <a:solidFill>
                  <a:srgbClr val="1F242B"/>
                </a:solidFill>
                <a:latin typeface="Calibri"/>
              </a:rPr>
              <a:t>registry : fraud_detection@production</a:t>
            </a:r>
          </a:p>
        </p:txBody>
      </p:sp>
      <p:sp>
        <p:nvSpPr>
          <p:cNvPr id="19" name="Rounded Rectangle 18"/>
          <p:cNvSpPr/>
          <p:nvPr/>
        </p:nvSpPr>
        <p:spPr>
          <a:xfrm>
            <a:off x="6537960" y="3703320"/>
            <a:ext cx="2194560" cy="59436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37960" y="3703320"/>
            <a:ext cx="2194560" cy="594360"/>
          </a:xfrm>
          <a:prstGeom prst="rect">
            <a:avLst/>
          </a:prstGeom>
          <a:noFill/>
        </p:spPr>
        <p:txBody>
          <a:bodyPr wrap="square" anchor="ctr" lIns="73152" rIns="73152" tIns="36576" bIns="36576">
            <a:spAutoFit/>
          </a:bodyPr>
          <a:lstStyle/>
          <a:p>
            <a:pPr algn="ctr"/>
            <a:r>
              <a:rPr sz="1100" b="1">
                <a:solidFill>
                  <a:srgbClr val="1F242B"/>
                </a:solidFill>
                <a:latin typeface="Calibri"/>
              </a:rPr>
              <a:t>training (profil compose)</a:t>
            </a:r>
          </a:p>
          <a:p>
            <a:pPr algn="ctr"/>
            <a:r>
              <a:rPr sz="1000" b="0">
                <a:solidFill>
                  <a:srgbClr val="1F242B"/>
                </a:solidFill>
                <a:latin typeface="Calibri"/>
              </a:rPr>
              <a:t>one-shot au boot · python 3.13</a:t>
            </a:r>
          </a:p>
        </p:txBody>
      </p:sp>
      <p:sp>
        <p:nvSpPr>
          <p:cNvPr id="21" name="Can 20"/>
          <p:cNvSpPr/>
          <p:nvPr/>
        </p:nvSpPr>
        <p:spPr>
          <a:xfrm>
            <a:off x="3657600" y="4343400"/>
            <a:ext cx="2103120" cy="1005840"/>
          </a:xfrm>
          <a:prstGeom prst="can">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600" y="4343400"/>
            <a:ext cx="2103120" cy="1005840"/>
          </a:xfrm>
          <a:prstGeom prst="rect">
            <a:avLst/>
          </a:prstGeom>
          <a:noFill/>
        </p:spPr>
        <p:txBody>
          <a:bodyPr wrap="square" anchor="ctr" lIns="73152" rIns="73152" tIns="36576" bIns="36576">
            <a:spAutoFit/>
          </a:bodyPr>
          <a:lstStyle/>
          <a:p>
            <a:pPr algn="ctr"/>
            <a:r>
              <a:rPr sz="1200" b="1">
                <a:solidFill>
                  <a:srgbClr val="1F242B"/>
                </a:solidFill>
                <a:latin typeface="Calibri"/>
              </a:rPr>
              <a:t>PostgreSQL 16</a:t>
            </a:r>
          </a:p>
          <a:p>
            <a:pPr algn="ctr"/>
            <a:r>
              <a:rPr sz="1100" b="0">
                <a:solidFill>
                  <a:srgbClr val="1F242B"/>
                </a:solidFill>
                <a:latin typeface="Calibri"/>
              </a:rPr>
              <a:t>airflow · mlflow · fraud</a:t>
            </a:r>
          </a:p>
          <a:p>
            <a:pPr algn="ctr"/>
            <a:r>
              <a:rPr sz="1100" b="0">
                <a:solidFill>
                  <a:srgbClr val="1F242B"/>
                </a:solidFill>
                <a:latin typeface="Calibri"/>
              </a:rPr>
              <a:t>volume Docker sur l'EBS</a:t>
            </a:r>
          </a:p>
        </p:txBody>
      </p:sp>
      <p:sp>
        <p:nvSpPr>
          <p:cNvPr id="23" name="Rounded Rectangle 22"/>
          <p:cNvSpPr/>
          <p:nvPr/>
        </p:nvSpPr>
        <p:spPr>
          <a:xfrm>
            <a:off x="6537960" y="4663440"/>
            <a:ext cx="2194560" cy="54864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37960" y="4663440"/>
            <a:ext cx="2194560" cy="548640"/>
          </a:xfrm>
          <a:prstGeom prst="rect">
            <a:avLst/>
          </a:prstGeom>
          <a:noFill/>
        </p:spPr>
        <p:txBody>
          <a:bodyPr wrap="square" anchor="ctr" lIns="73152" rIns="73152" tIns="36576" bIns="36576">
            <a:spAutoFit/>
          </a:bodyPr>
          <a:lstStyle/>
          <a:p>
            <a:pPr algn="ctr"/>
            <a:r>
              <a:rPr sz="1200" b="1">
                <a:solidFill>
                  <a:srgbClr val="1F242B"/>
                </a:solidFill>
                <a:latin typeface="Calibri"/>
              </a:rPr>
              <a:t>Streamlit</a:t>
            </a:r>
          </a:p>
          <a:p>
            <a:pPr algn="ctr"/>
            <a:r>
              <a:rPr sz="1100" b="0">
                <a:solidFill>
                  <a:srgbClr val="1F242B"/>
                </a:solidFill>
                <a:latin typeface="Calibri"/>
              </a:rPr>
              <a:t>:8501</a:t>
            </a:r>
          </a:p>
        </p:txBody>
      </p:sp>
      <p:sp>
        <p:nvSpPr>
          <p:cNvPr id="25" name="Can 24"/>
          <p:cNvSpPr/>
          <p:nvPr/>
        </p:nvSpPr>
        <p:spPr>
          <a:xfrm>
            <a:off x="9326880" y="2286000"/>
            <a:ext cx="2148840" cy="1371600"/>
          </a:xfrm>
          <a:prstGeom prst="can">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0" y="2286000"/>
            <a:ext cx="2148840" cy="1371600"/>
          </a:xfrm>
          <a:prstGeom prst="rect">
            <a:avLst/>
          </a:prstGeom>
          <a:noFill/>
        </p:spPr>
        <p:txBody>
          <a:bodyPr wrap="square" anchor="ctr" lIns="73152" rIns="73152" tIns="36576" bIns="36576">
            <a:spAutoFit/>
          </a:bodyPr>
          <a:lstStyle/>
          <a:p>
            <a:pPr algn="ctr"/>
            <a:r>
              <a:rPr sz="1200" b="1">
                <a:solidFill>
                  <a:srgbClr val="1F242B"/>
                </a:solidFill>
                <a:latin typeface="Calibri"/>
              </a:rPr>
              <a:t>S3</a:t>
            </a:r>
          </a:p>
          <a:p>
            <a:pPr algn="ctr"/>
            <a:r>
              <a:rPr sz="1100" b="0">
                <a:solidFill>
                  <a:srgbClr val="1F242B"/>
                </a:solidFill>
                <a:latin typeface="Calibri"/>
              </a:rPr>
              <a:t>chiffré · versionné</a:t>
            </a:r>
          </a:p>
          <a:p>
            <a:pPr algn="ctr"/>
            <a:r>
              <a:rPr sz="1100" b="0">
                <a:solidFill>
                  <a:srgbClr val="1F242B"/>
                </a:solidFill>
                <a:latin typeface="Calibri"/>
              </a:rPr>
              <a:t>data/fraudTest.csv</a:t>
            </a:r>
          </a:p>
          <a:p>
            <a:pPr algn="ctr"/>
            <a:r>
              <a:rPr sz="1100" b="0">
                <a:solidFill>
                  <a:srgbClr val="1F242B"/>
                </a:solidFill>
                <a:latin typeface="Calibri"/>
              </a:rPr>
              <a:t>mlflow-artifacts/ · reports/</a:t>
            </a:r>
          </a:p>
        </p:txBody>
      </p:sp>
      <p:sp>
        <p:nvSpPr>
          <p:cNvPr id="27" name="Rounded Rectangle 26"/>
          <p:cNvSpPr/>
          <p:nvPr/>
        </p:nvSpPr>
        <p:spPr>
          <a:xfrm>
            <a:off x="9326880" y="4343400"/>
            <a:ext cx="2148840" cy="868680"/>
          </a:xfrm>
          <a:prstGeom prst="roundRect">
            <a:avLst>
              <a:gd name="adj" fmla="val 12000"/>
            </a:avLst>
          </a:prstGeom>
          <a:solidFill>
            <a:srgbClr val="FFFFFF"/>
          </a:solidFill>
          <a:ln w="9525">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326880" y="4343400"/>
            <a:ext cx="2148840" cy="868680"/>
          </a:xfrm>
          <a:prstGeom prst="rect">
            <a:avLst/>
          </a:prstGeom>
          <a:noFill/>
        </p:spPr>
        <p:txBody>
          <a:bodyPr wrap="square" anchor="ctr" lIns="73152" rIns="73152" tIns="36576" bIns="36576">
            <a:spAutoFit/>
          </a:bodyPr>
          <a:lstStyle/>
          <a:p>
            <a:pPr algn="ctr"/>
            <a:r>
              <a:rPr sz="1200" b="1">
                <a:solidFill>
                  <a:srgbClr val="1F242B"/>
                </a:solidFill>
                <a:latin typeface="Calibri"/>
              </a:rPr>
              <a:t>IAM — rôle d'instance</a:t>
            </a:r>
          </a:p>
          <a:p>
            <a:pPr algn="ctr"/>
            <a:r>
              <a:rPr sz="1100" b="0">
                <a:solidFill>
                  <a:srgbClr val="1F242B"/>
                </a:solidFill>
                <a:latin typeface="Calibri"/>
              </a:rPr>
              <a:t>accès S3 uniquement</a:t>
            </a:r>
          </a:p>
          <a:p>
            <a:pPr algn="ctr"/>
            <a:r>
              <a:rPr sz="1100" b="0">
                <a:solidFill>
                  <a:srgbClr val="1F242B"/>
                </a:solidFill>
                <a:latin typeface="Calibri"/>
              </a:rPr>
              <a:t>aucune clé dans le code</a:t>
            </a:r>
          </a:p>
        </p:txBody>
      </p:sp>
      <p:cxnSp>
        <p:nvCxnSpPr>
          <p:cNvPr id="29" name="Connector 28"/>
          <p:cNvCxnSpPr/>
          <p:nvPr/>
        </p:nvCxnSpPr>
        <p:spPr>
          <a:xfrm>
            <a:off x="2651760" y="1828800"/>
            <a:ext cx="45720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2651760" y="3017520"/>
            <a:ext cx="10058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51760" y="4160520"/>
            <a:ext cx="73152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2697480" y="4224528"/>
            <a:ext cx="6400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2697480" y="4224528"/>
            <a:ext cx="640080" cy="256032"/>
          </a:xfrm>
          <a:prstGeom prst="rect">
            <a:avLst/>
          </a:prstGeom>
          <a:noFill/>
        </p:spPr>
        <p:txBody>
          <a:bodyPr wrap="square" anchor="ctr" lIns="0" rIns="0" tIns="0" bIns="0">
            <a:spAutoFit/>
          </a:bodyPr>
          <a:lstStyle/>
          <a:p>
            <a:pPr algn="ctr"/>
            <a:r>
              <a:rPr sz="850" b="0" i="1">
                <a:solidFill>
                  <a:srgbClr val="6B7280"/>
                </a:solidFill>
                <a:latin typeface="Calibri"/>
              </a:rPr>
              <a:t>git clone</a:t>
            </a:r>
          </a:p>
        </p:txBody>
      </p:sp>
      <p:cxnSp>
        <p:nvCxnSpPr>
          <p:cNvPr id="34" name="Connector 33"/>
          <p:cNvCxnSpPr/>
          <p:nvPr/>
        </p:nvCxnSpPr>
        <p:spPr>
          <a:xfrm flipH="1">
            <a:off x="2926080" y="3429000"/>
            <a:ext cx="731520" cy="0"/>
          </a:xfrm>
          <a:prstGeom prst="line">
            <a:avLst/>
          </a:prstGeom>
          <a:ln w="19050">
            <a:solidFill>
              <a:srgbClr val="E74C3C"/>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926080" y="3429000"/>
            <a:ext cx="0" cy="1965960"/>
          </a:xfrm>
          <a:prstGeom prst="line">
            <a:avLst/>
          </a:prstGeom>
          <a:ln w="19050">
            <a:solidFill>
              <a:srgbClr val="E74C3C"/>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a:off x="2651760" y="5394960"/>
            <a:ext cx="274320" cy="0"/>
          </a:xfrm>
          <a:prstGeom prst="line">
            <a:avLst/>
          </a:prstGeom>
          <a:ln w="19050">
            <a:solidFill>
              <a:srgbClr val="E74C3C"/>
            </a:solidFill>
            <a:tailEnd type="triangle" w="med" len="med"/>
          </a:ln>
        </p:spPr>
        <p:style>
          <a:lnRef idx="2">
            <a:schemeClr val="accent1"/>
          </a:lnRef>
          <a:fillRef idx="0">
            <a:schemeClr val="accent1"/>
          </a:fillRef>
          <a:effectRef idx="1">
            <a:schemeClr val="accent1"/>
          </a:effectRef>
          <a:fontRef idx="minor">
            <a:schemeClr val="tx1"/>
          </a:fontRef>
        </p:style>
      </p:cxnSp>
      <p:sp>
        <p:nvSpPr>
          <p:cNvPr id="37" name="Rectangle 36"/>
          <p:cNvSpPr/>
          <p:nvPr/>
        </p:nvSpPr>
        <p:spPr>
          <a:xfrm>
            <a:off x="2990088" y="5029200"/>
            <a:ext cx="64008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990088" y="5029200"/>
            <a:ext cx="640080" cy="256032"/>
          </a:xfrm>
          <a:prstGeom prst="rect">
            <a:avLst/>
          </a:prstGeom>
          <a:noFill/>
        </p:spPr>
        <p:txBody>
          <a:bodyPr wrap="square" anchor="ctr" lIns="0" rIns="0" tIns="0" bIns="0">
            <a:spAutoFit/>
          </a:bodyPr>
          <a:lstStyle/>
          <a:p>
            <a:pPr algn="ctr"/>
            <a:r>
              <a:rPr sz="850" b="0" i="1">
                <a:solidFill>
                  <a:srgbClr val="E74C3C"/>
                </a:solidFill>
                <a:latin typeface="Calibri"/>
              </a:rPr>
              <a:t>webhook</a:t>
            </a:r>
          </a:p>
        </p:txBody>
      </p:sp>
      <p:cxnSp>
        <p:nvCxnSpPr>
          <p:cNvPr id="39" name="Connector 38"/>
          <p:cNvCxnSpPr/>
          <p:nvPr/>
        </p:nvCxnSpPr>
        <p:spPr>
          <a:xfrm flipH="1">
            <a:off x="5760720" y="2697480"/>
            <a:ext cx="7772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0" name="Rectangle 39"/>
          <p:cNvSpPr/>
          <p:nvPr/>
        </p:nvSpPr>
        <p:spPr>
          <a:xfrm>
            <a:off x="5806440" y="2395728"/>
            <a:ext cx="6858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806440" y="2395728"/>
            <a:ext cx="685800" cy="256032"/>
          </a:xfrm>
          <a:prstGeom prst="rect">
            <a:avLst/>
          </a:prstGeom>
          <a:noFill/>
        </p:spPr>
        <p:txBody>
          <a:bodyPr wrap="square" anchor="ctr" lIns="0" rIns="0" tIns="0" bIns="0">
            <a:spAutoFit/>
          </a:bodyPr>
          <a:lstStyle/>
          <a:p>
            <a:pPr algn="ctr"/>
            <a:r>
              <a:rPr sz="850" b="0" i="1">
                <a:solidFill>
                  <a:srgbClr val="6B7280"/>
                </a:solidFill>
                <a:latin typeface="Calibri"/>
              </a:rPr>
              <a:t>load_model</a:t>
            </a:r>
          </a:p>
        </p:txBody>
      </p:sp>
      <p:cxnSp>
        <p:nvCxnSpPr>
          <p:cNvPr id="42" name="Connector 41"/>
          <p:cNvCxnSpPr/>
          <p:nvPr/>
        </p:nvCxnSpPr>
        <p:spPr>
          <a:xfrm flipV="1">
            <a:off x="6949440" y="3154680"/>
            <a:ext cx="0" cy="54864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Rectangle 42"/>
          <p:cNvSpPr/>
          <p:nvPr/>
        </p:nvSpPr>
        <p:spPr>
          <a:xfrm>
            <a:off x="7040880" y="3182112"/>
            <a:ext cx="10515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040880" y="3182112"/>
            <a:ext cx="1051560" cy="256032"/>
          </a:xfrm>
          <a:prstGeom prst="rect">
            <a:avLst/>
          </a:prstGeom>
          <a:noFill/>
        </p:spPr>
        <p:txBody>
          <a:bodyPr wrap="square" anchor="ctr" lIns="0" rIns="0" tIns="0" bIns="0">
            <a:spAutoFit/>
          </a:bodyPr>
          <a:lstStyle/>
          <a:p>
            <a:pPr algn="l"/>
            <a:r>
              <a:rPr sz="850" b="0" i="1">
                <a:solidFill>
                  <a:srgbClr val="6B7280"/>
                </a:solidFill>
                <a:latin typeface="Calibri"/>
              </a:rPr>
              <a:t>log_model + alias</a:t>
            </a:r>
          </a:p>
        </p:txBody>
      </p:sp>
      <p:cxnSp>
        <p:nvCxnSpPr>
          <p:cNvPr id="45" name="Connector 44"/>
          <p:cNvCxnSpPr/>
          <p:nvPr/>
        </p:nvCxnSpPr>
        <p:spPr>
          <a:xfrm>
            <a:off x="4709160" y="3611880"/>
            <a:ext cx="0" cy="73152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6" name="Rectangle 45"/>
          <p:cNvSpPr/>
          <p:nvPr/>
        </p:nvSpPr>
        <p:spPr>
          <a:xfrm>
            <a:off x="4800600" y="3858768"/>
            <a:ext cx="13716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00600" y="3858768"/>
            <a:ext cx="1371600" cy="256032"/>
          </a:xfrm>
          <a:prstGeom prst="rect">
            <a:avLst/>
          </a:prstGeom>
          <a:noFill/>
        </p:spPr>
        <p:txBody>
          <a:bodyPr wrap="square" anchor="ctr" lIns="0" rIns="0" tIns="0" bIns="0">
            <a:spAutoFit/>
          </a:bodyPr>
          <a:lstStyle/>
          <a:p>
            <a:pPr algn="l"/>
            <a:r>
              <a:rPr sz="850" b="0" i="1">
                <a:solidFill>
                  <a:srgbClr val="6B7280"/>
                </a:solidFill>
                <a:latin typeface="Calibri"/>
              </a:rPr>
              <a:t>transactions · prédictions</a:t>
            </a:r>
          </a:p>
        </p:txBody>
      </p:sp>
      <p:cxnSp>
        <p:nvCxnSpPr>
          <p:cNvPr id="48" name="Connector 47"/>
          <p:cNvCxnSpPr/>
          <p:nvPr/>
        </p:nvCxnSpPr>
        <p:spPr>
          <a:xfrm flipH="1">
            <a:off x="5760720" y="4937760"/>
            <a:ext cx="7772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a:off x="8732520" y="2697480"/>
            <a:ext cx="59436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8750808" y="2395728"/>
            <a:ext cx="54864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50808" y="2395728"/>
            <a:ext cx="548640" cy="256032"/>
          </a:xfrm>
          <a:prstGeom prst="rect">
            <a:avLst/>
          </a:prstGeom>
          <a:noFill/>
        </p:spPr>
        <p:txBody>
          <a:bodyPr wrap="square" anchor="ctr" lIns="0" rIns="0" tIns="0" bIns="0">
            <a:spAutoFit/>
          </a:bodyPr>
          <a:lstStyle/>
          <a:p>
            <a:pPr algn="ctr"/>
            <a:r>
              <a:rPr sz="850" b="0" i="1">
                <a:solidFill>
                  <a:srgbClr val="6B7280"/>
                </a:solidFill>
                <a:latin typeface="Calibri"/>
              </a:rPr>
              <a:t>artefacts</a:t>
            </a:r>
          </a:p>
        </p:txBody>
      </p:sp>
      <p:cxnSp>
        <p:nvCxnSpPr>
          <p:cNvPr id="52" name="Connector 51"/>
          <p:cNvCxnSpPr/>
          <p:nvPr/>
        </p:nvCxnSpPr>
        <p:spPr>
          <a:xfrm>
            <a:off x="9966960" y="3657600"/>
            <a:ext cx="0" cy="338328"/>
          </a:xfrm>
          <a:prstGeom prst="line">
            <a:avLst/>
          </a:prstGeom>
          <a:ln w="19050">
            <a:solidFill>
              <a:srgbClr val="6B7280"/>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8732520" y="3995928"/>
            <a:ext cx="1234440" cy="0"/>
          </a:xfrm>
          <a:prstGeom prst="line">
            <a:avLst/>
          </a:prstGeom>
          <a:ln w="19050">
            <a:solidFill>
              <a:srgbClr val="6B7280"/>
            </a:solidFill>
            <a:tailEnd type="triangle" w="med" len="med"/>
          </a:ln>
        </p:spPr>
        <p:style>
          <a:lnRef idx="2">
            <a:schemeClr val="accent1"/>
          </a:lnRef>
          <a:fillRef idx="0">
            <a:schemeClr val="accent1"/>
          </a:fillRef>
          <a:effectRef idx="1">
            <a:schemeClr val="accent1"/>
          </a:effectRef>
          <a:fontRef idx="minor">
            <a:schemeClr val="tx1"/>
          </a:fontRef>
        </p:style>
      </p:cxnSp>
      <p:sp>
        <p:nvSpPr>
          <p:cNvPr id="54" name="Rectangle 53"/>
          <p:cNvSpPr/>
          <p:nvPr/>
        </p:nvSpPr>
        <p:spPr>
          <a:xfrm>
            <a:off x="8915400" y="4059936"/>
            <a:ext cx="59436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8915400" y="4059936"/>
            <a:ext cx="594360" cy="256032"/>
          </a:xfrm>
          <a:prstGeom prst="rect">
            <a:avLst/>
          </a:prstGeom>
          <a:noFill/>
        </p:spPr>
        <p:txBody>
          <a:bodyPr wrap="square" anchor="ctr" lIns="0" rIns="0" tIns="0" bIns="0">
            <a:spAutoFit/>
          </a:bodyPr>
          <a:lstStyle/>
          <a:p>
            <a:pPr algn="ctr"/>
            <a:r>
              <a:rPr sz="850" b="0" i="1">
                <a:solidFill>
                  <a:srgbClr val="6B7280"/>
                </a:solidFill>
                <a:latin typeface="Calibri"/>
              </a:rPr>
              <a:t>dataset</a:t>
            </a:r>
          </a:p>
        </p:txBody>
      </p:sp>
      <p:cxnSp>
        <p:nvCxnSpPr>
          <p:cNvPr id="56" name="Connector 55"/>
          <p:cNvCxnSpPr/>
          <p:nvPr/>
        </p:nvCxnSpPr>
        <p:spPr>
          <a:xfrm>
            <a:off x="5760720" y="3474720"/>
            <a:ext cx="3291840" cy="0"/>
          </a:xfrm>
          <a:prstGeom prst="line">
            <a:avLst/>
          </a:prstGeom>
          <a:ln w="19050">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V="1">
            <a:off x="9052560" y="3108960"/>
            <a:ext cx="0" cy="365760"/>
          </a:xfrm>
          <a:prstGeom prst="line">
            <a:avLst/>
          </a:prstGeom>
          <a:ln w="19050">
            <a:solidFill>
              <a:srgbClr val="FCA311"/>
            </a:solidFill>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a:off x="9052560" y="3108960"/>
            <a:ext cx="274320" cy="0"/>
          </a:xfrm>
          <a:prstGeom prst="line">
            <a:avLst/>
          </a:prstGeom>
          <a:ln w="19050">
            <a:solidFill>
              <a:srgbClr val="FCA311"/>
            </a:solidFill>
            <a:tailEnd type="triangle" w="med" len="med"/>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8092440" y="3520440"/>
            <a:ext cx="914400" cy="25603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092440" y="3520440"/>
            <a:ext cx="914400" cy="256032"/>
          </a:xfrm>
          <a:prstGeom prst="rect">
            <a:avLst/>
          </a:prstGeom>
          <a:noFill/>
        </p:spPr>
        <p:txBody>
          <a:bodyPr wrap="square" anchor="ctr" lIns="0" rIns="0" tIns="0" bIns="0">
            <a:spAutoFit/>
          </a:bodyPr>
          <a:lstStyle/>
          <a:p>
            <a:pPr algn="ctr"/>
            <a:r>
              <a:rPr sz="850" b="0" i="1">
                <a:solidFill>
                  <a:srgbClr val="B36B00"/>
                </a:solidFill>
                <a:latin typeface="Calibri"/>
              </a:rPr>
              <a:t>CSV quotidien</a:t>
            </a:r>
          </a:p>
        </p:txBody>
      </p:sp>
      <p:cxnSp>
        <p:nvCxnSpPr>
          <p:cNvPr id="61" name="Connector 60"/>
          <p:cNvCxnSpPr/>
          <p:nvPr/>
        </p:nvCxnSpPr>
        <p:spPr>
          <a:xfrm flipV="1">
            <a:off x="10881360" y="3675887"/>
            <a:ext cx="0" cy="667513"/>
          </a:xfrm>
          <a:prstGeom prst="line">
            <a:avLst/>
          </a:prstGeom>
          <a:ln w="19050">
            <a:solidFill>
              <a:srgbClr val="D9DDE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548640" y="6446520"/>
            <a:ext cx="11064240" cy="320040"/>
          </a:xfrm>
          <a:prstGeom prst="rect">
            <a:avLst/>
          </a:prstGeom>
          <a:noFill/>
        </p:spPr>
        <p:txBody>
          <a:bodyPr wrap="square" anchor="t" lIns="0" rIns="0" tIns="0" bIns="0">
            <a:spAutoFit/>
          </a:bodyPr>
          <a:lstStyle/>
          <a:p>
            <a:pPr algn="l"/>
            <a:r>
              <a:rPr sz="1050" b="0" i="1">
                <a:solidFill>
                  <a:srgbClr val="6B7280"/>
                </a:solidFill>
                <a:latin typeface="Calibri"/>
              </a:rPr>
              <a:t>RDS PostgreSQL était la cible : bloqué par le quota du plan gratuit du compte (1 instance, déjà utilisée). Coût ≈ 2,5 $ / jour · terraform destroy après la soutenance.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extBox 1"/>
          <p:cNvSpPr txBox="1"/>
          <p:nvPr/>
        </p:nvSpPr>
        <p:spPr>
          <a:xfrm>
            <a:off x="548640" y="320040"/>
            <a:ext cx="11064240" cy="731520"/>
          </a:xfrm>
          <a:prstGeom prst="rect">
            <a:avLst/>
          </a:prstGeom>
          <a:noFill/>
        </p:spPr>
        <p:txBody>
          <a:bodyPr wrap="square" anchor="t" lIns="0" rIns="0" tIns="0" bIns="0">
            <a:spAutoFit/>
          </a:bodyPr>
          <a:lstStyle/>
          <a:p>
            <a:pPr algn="l"/>
            <a:r>
              <a:rPr sz="3200" b="1" i="0">
                <a:solidFill>
                  <a:srgbClr val="FFFFFF"/>
                </a:solidFill>
                <a:latin typeface="Cambria"/>
              </a:rPr>
              <a:t>Choix d'architecture — et ce qui a été écarté</a:t>
            </a:r>
          </a:p>
        </p:txBody>
      </p:sp>
      <p:sp>
        <p:nvSpPr>
          <p:cNvPr id="3" name="TextBox 2"/>
          <p:cNvSpPr txBox="1"/>
          <p:nvPr/>
        </p:nvSpPr>
        <p:spPr>
          <a:xfrm>
            <a:off x="548640" y="1234440"/>
            <a:ext cx="2743200" cy="320040"/>
          </a:xfrm>
          <a:prstGeom prst="rect">
            <a:avLst/>
          </a:prstGeom>
          <a:noFill/>
        </p:spPr>
        <p:txBody>
          <a:bodyPr wrap="square" anchor="t" lIns="0" rIns="0" tIns="0" bIns="0">
            <a:spAutoFit/>
          </a:bodyPr>
          <a:lstStyle/>
          <a:p>
            <a:pPr algn="l"/>
            <a:r>
              <a:rPr sz="1200" b="1" i="0">
                <a:solidFill>
                  <a:srgbClr val="FCA311"/>
                </a:solidFill>
                <a:latin typeface="Calibri"/>
              </a:rPr>
              <a:t>Choix</a:t>
            </a:r>
          </a:p>
        </p:txBody>
      </p:sp>
      <p:sp>
        <p:nvSpPr>
          <p:cNvPr id="4" name="TextBox 3"/>
          <p:cNvSpPr txBox="1"/>
          <p:nvPr/>
        </p:nvSpPr>
        <p:spPr>
          <a:xfrm>
            <a:off x="3291840" y="1234440"/>
            <a:ext cx="2560320" cy="320040"/>
          </a:xfrm>
          <a:prstGeom prst="rect">
            <a:avLst/>
          </a:prstGeom>
          <a:noFill/>
        </p:spPr>
        <p:txBody>
          <a:bodyPr wrap="square" anchor="t" lIns="0" rIns="0" tIns="0" bIns="0">
            <a:spAutoFit/>
          </a:bodyPr>
          <a:lstStyle/>
          <a:p>
            <a:pPr algn="l"/>
            <a:r>
              <a:rPr sz="1200" b="1" i="0">
                <a:solidFill>
                  <a:srgbClr val="FCA311"/>
                </a:solidFill>
                <a:latin typeface="Calibri"/>
              </a:rPr>
              <a:t>Alternative écartée</a:t>
            </a:r>
          </a:p>
        </p:txBody>
      </p:sp>
      <p:sp>
        <p:nvSpPr>
          <p:cNvPr id="5" name="TextBox 4"/>
          <p:cNvSpPr txBox="1"/>
          <p:nvPr/>
        </p:nvSpPr>
        <p:spPr>
          <a:xfrm>
            <a:off x="5852160" y="1234440"/>
            <a:ext cx="5760720" cy="320040"/>
          </a:xfrm>
          <a:prstGeom prst="rect">
            <a:avLst/>
          </a:prstGeom>
          <a:noFill/>
        </p:spPr>
        <p:txBody>
          <a:bodyPr wrap="square" anchor="t" lIns="0" rIns="0" tIns="0" bIns="0">
            <a:spAutoFit/>
          </a:bodyPr>
          <a:lstStyle/>
          <a:p>
            <a:pPr algn="l"/>
            <a:r>
              <a:rPr sz="1200" b="1" i="0">
                <a:solidFill>
                  <a:srgbClr val="FCA311"/>
                </a:solidFill>
                <a:latin typeface="Calibri"/>
              </a:rPr>
              <a:t>Pourquoi</a:t>
            </a:r>
          </a:p>
        </p:txBody>
      </p:sp>
      <p:sp>
        <p:nvSpPr>
          <p:cNvPr id="6" name="Rounded Rectangle 5"/>
          <p:cNvSpPr/>
          <p:nvPr/>
        </p:nvSpPr>
        <p:spPr>
          <a:xfrm>
            <a:off x="548640" y="1645920"/>
            <a:ext cx="11064240" cy="749808"/>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700784"/>
            <a:ext cx="2468880" cy="640080"/>
          </a:xfrm>
          <a:prstGeom prst="rect">
            <a:avLst/>
          </a:prstGeom>
          <a:noFill/>
        </p:spPr>
        <p:txBody>
          <a:bodyPr wrap="square" anchor="ctr" lIns="0" rIns="0" tIns="0" bIns="0">
            <a:spAutoFit/>
          </a:bodyPr>
          <a:lstStyle/>
          <a:p>
            <a:pPr algn="l"/>
            <a:r>
              <a:rPr sz="1200" b="1" i="0">
                <a:solidFill>
                  <a:srgbClr val="FFFFFF"/>
                </a:solidFill>
                <a:latin typeface="Calibri"/>
              </a:rPr>
              <a:t>Airflow seul, DAG à la minute</a:t>
            </a:r>
          </a:p>
        </p:txBody>
      </p:sp>
      <p:sp>
        <p:nvSpPr>
          <p:cNvPr id="8" name="TextBox 7"/>
          <p:cNvSpPr txBox="1"/>
          <p:nvPr/>
        </p:nvSpPr>
        <p:spPr>
          <a:xfrm>
            <a:off x="3429000" y="1700784"/>
            <a:ext cx="2286000" cy="640080"/>
          </a:xfrm>
          <a:prstGeom prst="rect">
            <a:avLst/>
          </a:prstGeom>
          <a:noFill/>
        </p:spPr>
        <p:txBody>
          <a:bodyPr wrap="square" anchor="ctr" lIns="0" rIns="0" tIns="0" bIns="0">
            <a:spAutoFit/>
          </a:bodyPr>
          <a:lstStyle/>
          <a:p>
            <a:pPr algn="l"/>
            <a:r>
              <a:rPr sz="1150" b="0" i="0">
                <a:solidFill>
                  <a:srgbClr val="CAD3E6"/>
                </a:solidFill>
                <a:latin typeface="Calibri"/>
              </a:rPr>
              <a:t>Kafka + producer / consumer</a:t>
            </a:r>
          </a:p>
        </p:txBody>
      </p:sp>
      <p:sp>
        <p:nvSpPr>
          <p:cNvPr id="9" name="TextBox 8"/>
          <p:cNvSpPr txBox="1"/>
          <p:nvPr/>
        </p:nvSpPr>
        <p:spPr>
          <a:xfrm>
            <a:off x="5989320" y="1700784"/>
            <a:ext cx="5486400" cy="640080"/>
          </a:xfrm>
          <a:prstGeom prst="rect">
            <a:avLst/>
          </a:prstGeom>
          <a:noFill/>
        </p:spPr>
        <p:txBody>
          <a:bodyPr wrap="square" anchor="ctr" lIns="0" rIns="0" tIns="0" bIns="0">
            <a:spAutoFit/>
          </a:bodyPr>
          <a:lstStyle/>
          <a:p>
            <a:pPr algn="l"/>
            <a:r>
              <a:rPr sz="1050" b="0" i="0">
                <a:solidFill>
                  <a:srgbClr val="CAD3E6"/>
                </a:solidFill>
                <a:latin typeface="Calibri"/>
              </a:rPr>
              <a:t>l'API produit 1 transaction par minute : Kafka ajouterait 2 services pour une latence identique. Pertinent si le débit monte ou si plusieurs consommateurs lisent le flux.</a:t>
            </a:r>
          </a:p>
        </p:txBody>
      </p:sp>
      <p:sp>
        <p:nvSpPr>
          <p:cNvPr id="10" name="Rounded Rectangle 9"/>
          <p:cNvSpPr/>
          <p:nvPr/>
        </p:nvSpPr>
        <p:spPr>
          <a:xfrm>
            <a:off x="548640" y="2468880"/>
            <a:ext cx="11064240" cy="749808"/>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2523744"/>
            <a:ext cx="2468880" cy="640080"/>
          </a:xfrm>
          <a:prstGeom prst="rect">
            <a:avLst/>
          </a:prstGeom>
          <a:noFill/>
        </p:spPr>
        <p:txBody>
          <a:bodyPr wrap="square" anchor="ctr" lIns="0" rIns="0" tIns="0" bIns="0">
            <a:spAutoFit/>
          </a:bodyPr>
          <a:lstStyle/>
          <a:p>
            <a:pPr algn="l"/>
            <a:r>
              <a:rPr sz="1200" b="1" i="0">
                <a:solidFill>
                  <a:srgbClr val="FFFFFF"/>
                </a:solidFill>
                <a:latin typeface="Calibri"/>
              </a:rPr>
              <a:t>Modèle chargé depuis le registry MLflow</a:t>
            </a:r>
          </a:p>
        </p:txBody>
      </p:sp>
      <p:sp>
        <p:nvSpPr>
          <p:cNvPr id="12" name="TextBox 11"/>
          <p:cNvSpPr txBox="1"/>
          <p:nvPr/>
        </p:nvSpPr>
        <p:spPr>
          <a:xfrm>
            <a:off x="3429000" y="2523744"/>
            <a:ext cx="2286000" cy="640080"/>
          </a:xfrm>
          <a:prstGeom prst="rect">
            <a:avLst/>
          </a:prstGeom>
          <a:noFill/>
        </p:spPr>
        <p:txBody>
          <a:bodyPr wrap="square" anchor="ctr" lIns="0" rIns="0" tIns="0" bIns="0">
            <a:spAutoFit/>
          </a:bodyPr>
          <a:lstStyle/>
          <a:p>
            <a:pPr algn="l"/>
            <a:r>
              <a:rPr sz="1150" b="0" i="0">
                <a:solidFill>
                  <a:srgbClr val="CAD3E6"/>
                </a:solidFill>
                <a:latin typeface="Calibri"/>
              </a:rPr>
              <a:t>API FastAPI de scoring</a:t>
            </a:r>
          </a:p>
        </p:txBody>
      </p:sp>
      <p:sp>
        <p:nvSpPr>
          <p:cNvPr id="13" name="TextBox 12"/>
          <p:cNvSpPr txBox="1"/>
          <p:nvPr/>
        </p:nvSpPr>
        <p:spPr>
          <a:xfrm>
            <a:off x="5989320" y="2523744"/>
            <a:ext cx="5486400" cy="640080"/>
          </a:xfrm>
          <a:prstGeom prst="rect">
            <a:avLst/>
          </a:prstGeom>
          <a:noFill/>
        </p:spPr>
        <p:txBody>
          <a:bodyPr wrap="square" anchor="ctr" lIns="0" rIns="0" tIns="0" bIns="0">
            <a:spAutoFit/>
          </a:bodyPr>
          <a:lstStyle/>
          <a:p>
            <a:pPr algn="l"/>
            <a:r>
              <a:rPr sz="1050" b="0" i="0">
                <a:solidFill>
                  <a:srgbClr val="CAD3E6"/>
                </a:solidFill>
                <a:latin typeface="Calibri"/>
              </a:rPr>
              <a:t>un seul client (le DAG) ; l'alias production découple déjà entraînement et exploitation. Une API se justifie avec un second consommateur.</a:t>
            </a:r>
          </a:p>
        </p:txBody>
      </p:sp>
      <p:sp>
        <p:nvSpPr>
          <p:cNvPr id="14" name="Rounded Rectangle 13"/>
          <p:cNvSpPr/>
          <p:nvPr/>
        </p:nvSpPr>
        <p:spPr>
          <a:xfrm>
            <a:off x="548640" y="3291840"/>
            <a:ext cx="11064240" cy="749808"/>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3346704"/>
            <a:ext cx="2468880" cy="640080"/>
          </a:xfrm>
          <a:prstGeom prst="rect">
            <a:avLst/>
          </a:prstGeom>
          <a:noFill/>
        </p:spPr>
        <p:txBody>
          <a:bodyPr wrap="square" anchor="ctr" lIns="0" rIns="0" tIns="0" bIns="0">
            <a:spAutoFit/>
          </a:bodyPr>
          <a:lstStyle/>
          <a:p>
            <a:pPr algn="l"/>
            <a:r>
              <a:rPr sz="1200" b="1" i="0">
                <a:solidFill>
                  <a:srgbClr val="FFFFFF"/>
                </a:solidFill>
                <a:latin typeface="Calibri"/>
              </a:rPr>
              <a:t>Preprocessing dans le pipeline sklearn</a:t>
            </a:r>
          </a:p>
        </p:txBody>
      </p:sp>
      <p:sp>
        <p:nvSpPr>
          <p:cNvPr id="16" name="TextBox 15"/>
          <p:cNvSpPr txBox="1"/>
          <p:nvPr/>
        </p:nvSpPr>
        <p:spPr>
          <a:xfrm>
            <a:off x="3429000" y="3346704"/>
            <a:ext cx="2286000" cy="640080"/>
          </a:xfrm>
          <a:prstGeom prst="rect">
            <a:avLst/>
          </a:prstGeom>
          <a:noFill/>
        </p:spPr>
        <p:txBody>
          <a:bodyPr wrap="square" anchor="ctr" lIns="0" rIns="0" tIns="0" bIns="0">
            <a:spAutoFit/>
          </a:bodyPr>
          <a:lstStyle/>
          <a:p>
            <a:pPr algn="l"/>
            <a:r>
              <a:rPr sz="1150" b="0" i="0">
                <a:solidFill>
                  <a:srgbClr val="CAD3E6"/>
                </a:solidFill>
                <a:latin typeface="Calibri"/>
              </a:rPr>
              <a:t>code de features dupliqué dans le DAG</a:t>
            </a:r>
          </a:p>
        </p:txBody>
      </p:sp>
      <p:sp>
        <p:nvSpPr>
          <p:cNvPr id="17" name="TextBox 16"/>
          <p:cNvSpPr txBox="1"/>
          <p:nvPr/>
        </p:nvSpPr>
        <p:spPr>
          <a:xfrm>
            <a:off x="5989320" y="3346704"/>
            <a:ext cx="5486400" cy="640080"/>
          </a:xfrm>
          <a:prstGeom prst="rect">
            <a:avLst/>
          </a:prstGeom>
          <a:noFill/>
        </p:spPr>
        <p:txBody>
          <a:bodyPr wrap="square" anchor="ctr" lIns="0" rIns="0" tIns="0" bIns="0">
            <a:spAutoFit/>
          </a:bodyPr>
          <a:lstStyle/>
          <a:p>
            <a:pPr algn="l"/>
            <a:r>
              <a:rPr sz="1050" b="0" i="0">
                <a:solidFill>
                  <a:srgbClr val="CAD3E6"/>
                </a:solidFill>
                <a:latin typeface="Calibri"/>
              </a:rPr>
              <a:t>un seul artefact, predict_proba sur du brut : aucune divergence training / inférence possible (exigence « réutilisable »).</a:t>
            </a:r>
          </a:p>
        </p:txBody>
      </p:sp>
      <p:sp>
        <p:nvSpPr>
          <p:cNvPr id="18" name="Rounded Rectangle 17"/>
          <p:cNvSpPr/>
          <p:nvPr/>
        </p:nvSpPr>
        <p:spPr>
          <a:xfrm>
            <a:off x="548640" y="4114800"/>
            <a:ext cx="11064240" cy="749808"/>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4169664"/>
            <a:ext cx="2468880" cy="640080"/>
          </a:xfrm>
          <a:prstGeom prst="rect">
            <a:avLst/>
          </a:prstGeom>
          <a:noFill/>
        </p:spPr>
        <p:txBody>
          <a:bodyPr wrap="square" anchor="ctr" lIns="0" rIns="0" tIns="0" bIns="0">
            <a:spAutoFit/>
          </a:bodyPr>
          <a:lstStyle/>
          <a:p>
            <a:pPr algn="l"/>
            <a:r>
              <a:rPr sz="1200" b="1" i="0">
                <a:solidFill>
                  <a:srgbClr val="FFFFFF"/>
                </a:solidFill>
                <a:latin typeface="Calibri"/>
              </a:rPr>
              <a:t>PostgreSQL</a:t>
            </a:r>
          </a:p>
        </p:txBody>
      </p:sp>
      <p:sp>
        <p:nvSpPr>
          <p:cNvPr id="20" name="TextBox 19"/>
          <p:cNvSpPr txBox="1"/>
          <p:nvPr/>
        </p:nvSpPr>
        <p:spPr>
          <a:xfrm>
            <a:off x="3429000" y="4169664"/>
            <a:ext cx="2286000" cy="640080"/>
          </a:xfrm>
          <a:prstGeom prst="rect">
            <a:avLst/>
          </a:prstGeom>
          <a:noFill/>
        </p:spPr>
        <p:txBody>
          <a:bodyPr wrap="square" anchor="ctr" lIns="0" rIns="0" tIns="0" bIns="0">
            <a:spAutoFit/>
          </a:bodyPr>
          <a:lstStyle/>
          <a:p>
            <a:pPr algn="l"/>
            <a:r>
              <a:rPr sz="1150" b="0" i="0">
                <a:solidFill>
                  <a:srgbClr val="CAD3E6"/>
                </a:solidFill>
                <a:latin typeface="Calibri"/>
              </a:rPr>
              <a:t>warehouse analytique (BigQuery, Snowflake)</a:t>
            </a:r>
          </a:p>
        </p:txBody>
      </p:sp>
      <p:sp>
        <p:nvSpPr>
          <p:cNvPr id="21" name="TextBox 20"/>
          <p:cNvSpPr txBox="1"/>
          <p:nvPr/>
        </p:nvSpPr>
        <p:spPr>
          <a:xfrm>
            <a:off x="5989320" y="4169664"/>
            <a:ext cx="5486400" cy="640080"/>
          </a:xfrm>
          <a:prstGeom prst="rect">
            <a:avLst/>
          </a:prstGeom>
          <a:noFill/>
        </p:spPr>
        <p:txBody>
          <a:bodyPr wrap="square" anchor="ctr" lIns="0" rIns="0" tIns="0" bIns="0">
            <a:spAutoFit/>
          </a:bodyPr>
          <a:lstStyle/>
          <a:p>
            <a:pPr algn="l"/>
            <a:r>
              <a:rPr sz="1050" b="0" i="0">
                <a:solidFill>
                  <a:srgbClr val="CAD3E6"/>
                </a:solidFill>
                <a:latin typeface="Calibri"/>
              </a:rPr>
              <a:t>1 440 lignes / jour : clé primaire pour le dédoublonnage, JSONB, agrégats SQL. Réplication vers un warehouse au-delà.</a:t>
            </a:r>
          </a:p>
        </p:txBody>
      </p:sp>
      <p:sp>
        <p:nvSpPr>
          <p:cNvPr id="22" name="Rounded Rectangle 21"/>
          <p:cNvSpPr/>
          <p:nvPr/>
        </p:nvSpPr>
        <p:spPr>
          <a:xfrm>
            <a:off x="548640" y="4937760"/>
            <a:ext cx="11064240" cy="749808"/>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4992624"/>
            <a:ext cx="2468880" cy="640080"/>
          </a:xfrm>
          <a:prstGeom prst="rect">
            <a:avLst/>
          </a:prstGeom>
          <a:noFill/>
        </p:spPr>
        <p:txBody>
          <a:bodyPr wrap="square" anchor="ctr" lIns="0" rIns="0" tIns="0" bIns="0">
            <a:spAutoFit/>
          </a:bodyPr>
          <a:lstStyle/>
          <a:p>
            <a:pPr algn="l"/>
            <a:r>
              <a:rPr sz="1200" b="1" i="0">
                <a:solidFill>
                  <a:srgbClr val="FFFFFF"/>
                </a:solidFill>
                <a:latin typeface="Calibri"/>
              </a:rPr>
              <a:t>Webhook Discord</a:t>
            </a:r>
          </a:p>
        </p:txBody>
      </p:sp>
      <p:sp>
        <p:nvSpPr>
          <p:cNvPr id="24" name="TextBox 23"/>
          <p:cNvSpPr txBox="1"/>
          <p:nvPr/>
        </p:nvSpPr>
        <p:spPr>
          <a:xfrm>
            <a:off x="3429000" y="4992624"/>
            <a:ext cx="2286000" cy="640080"/>
          </a:xfrm>
          <a:prstGeom prst="rect">
            <a:avLst/>
          </a:prstGeom>
          <a:noFill/>
        </p:spPr>
        <p:txBody>
          <a:bodyPr wrap="square" anchor="ctr" lIns="0" rIns="0" tIns="0" bIns="0">
            <a:spAutoFit/>
          </a:bodyPr>
          <a:lstStyle/>
          <a:p>
            <a:pPr algn="l"/>
            <a:r>
              <a:rPr sz="1150" b="0" i="0">
                <a:solidFill>
                  <a:srgbClr val="CAD3E6"/>
                </a:solidFill>
                <a:latin typeface="Calibri"/>
              </a:rPr>
              <a:t>e-mail SMTP</a:t>
            </a:r>
          </a:p>
        </p:txBody>
      </p:sp>
      <p:sp>
        <p:nvSpPr>
          <p:cNvPr id="25" name="TextBox 24"/>
          <p:cNvSpPr txBox="1"/>
          <p:nvPr/>
        </p:nvSpPr>
        <p:spPr>
          <a:xfrm>
            <a:off x="5989320" y="4992624"/>
            <a:ext cx="5486400" cy="640080"/>
          </a:xfrm>
          <a:prstGeom prst="rect">
            <a:avLst/>
          </a:prstGeom>
          <a:noFill/>
        </p:spPr>
        <p:txBody>
          <a:bodyPr wrap="square" anchor="ctr" lIns="0" rIns="0" tIns="0" bIns="0">
            <a:spAutoFit/>
          </a:bodyPr>
          <a:lstStyle/>
          <a:p>
            <a:pPr algn="l"/>
            <a:r>
              <a:rPr sz="1050" b="0" i="0">
                <a:solidFill>
                  <a:srgbClr val="CAD3E6"/>
                </a:solidFill>
                <a:latin typeface="Calibri"/>
              </a:rPr>
              <a:t>5 lignes de code, message riche, visible en démo ; le métier « a juste besoin d'une notification ».</a:t>
            </a:r>
          </a:p>
        </p:txBody>
      </p:sp>
      <p:sp>
        <p:nvSpPr>
          <p:cNvPr id="26" name="Rounded Rectangle 25"/>
          <p:cNvSpPr/>
          <p:nvPr/>
        </p:nvSpPr>
        <p:spPr>
          <a:xfrm>
            <a:off x="548640" y="5760720"/>
            <a:ext cx="11064240" cy="749808"/>
          </a:xfrm>
          <a:prstGeom prst="roundRect">
            <a:avLst>
              <a:gd name="adj" fmla="val 8000"/>
            </a:avLst>
          </a:prstGeom>
          <a:solidFill>
            <a:srgbClr val="1F33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5815584"/>
            <a:ext cx="2468880" cy="640080"/>
          </a:xfrm>
          <a:prstGeom prst="rect">
            <a:avLst/>
          </a:prstGeom>
          <a:noFill/>
        </p:spPr>
        <p:txBody>
          <a:bodyPr wrap="square" anchor="ctr" lIns="0" rIns="0" tIns="0" bIns="0">
            <a:spAutoFit/>
          </a:bodyPr>
          <a:lstStyle/>
          <a:p>
            <a:pPr algn="l"/>
            <a:r>
              <a:rPr sz="1200" b="1" i="0">
                <a:solidFill>
                  <a:srgbClr val="FFFFFF"/>
                </a:solidFill>
                <a:latin typeface="Calibri"/>
              </a:rPr>
              <a:t>Terraform + docker compose sur EC2</a:t>
            </a:r>
          </a:p>
        </p:txBody>
      </p:sp>
      <p:sp>
        <p:nvSpPr>
          <p:cNvPr id="28" name="TextBox 27"/>
          <p:cNvSpPr txBox="1"/>
          <p:nvPr/>
        </p:nvSpPr>
        <p:spPr>
          <a:xfrm>
            <a:off x="3429000" y="5815584"/>
            <a:ext cx="2286000" cy="640080"/>
          </a:xfrm>
          <a:prstGeom prst="rect">
            <a:avLst/>
          </a:prstGeom>
          <a:noFill/>
        </p:spPr>
        <p:txBody>
          <a:bodyPr wrap="square" anchor="ctr" lIns="0" rIns="0" tIns="0" bIns="0">
            <a:spAutoFit/>
          </a:bodyPr>
          <a:lstStyle/>
          <a:p>
            <a:pPr algn="l"/>
            <a:r>
              <a:rPr sz="1150" b="0" i="0">
                <a:solidFill>
                  <a:srgbClr val="CAD3E6"/>
                </a:solidFill>
                <a:latin typeface="Calibri"/>
              </a:rPr>
              <a:t>MWAA, ECS, RDS</a:t>
            </a:r>
          </a:p>
        </p:txBody>
      </p:sp>
      <p:sp>
        <p:nvSpPr>
          <p:cNvPr id="29" name="TextBox 28"/>
          <p:cNvSpPr txBox="1"/>
          <p:nvPr/>
        </p:nvSpPr>
        <p:spPr>
          <a:xfrm>
            <a:off x="5989320" y="5815584"/>
            <a:ext cx="5486400" cy="640080"/>
          </a:xfrm>
          <a:prstGeom prst="rect">
            <a:avLst/>
          </a:prstGeom>
          <a:noFill/>
        </p:spPr>
        <p:txBody>
          <a:bodyPr wrap="square" anchor="ctr" lIns="0" rIns="0" tIns="0" bIns="0">
            <a:spAutoFit/>
          </a:bodyPr>
          <a:lstStyle/>
          <a:p>
            <a:pPr algn="l"/>
            <a:r>
              <a:rPr sz="1050" b="0" i="0">
                <a:solidFill>
                  <a:srgbClr val="CAD3E6"/>
                </a:solidFill>
                <a:latin typeface="Calibri"/>
              </a:rPr>
              <a:t>reproductible en une commande, ≈ 2,5 $ / jour ; RDS bloqué par le quota du compte, décrit comme cible.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